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>
      <p:cViewPr varScale="1">
        <p:scale>
          <a:sx n="81" d="100"/>
          <a:sy n="81" d="100"/>
        </p:scale>
        <p:origin x="66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08422" y="2274663"/>
            <a:ext cx="637515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7BD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7BD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7BD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7BD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775" y="352742"/>
            <a:ext cx="11130424" cy="764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7BD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7AE9B22F-E130-38CD-C737-6743071E4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876" y="853125"/>
            <a:ext cx="7468247" cy="24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79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3962400"/>
            <a:ext cx="1676399" cy="10304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54392" y="3001319"/>
            <a:ext cx="427990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94A3B8"/>
                </a:solidFill>
                <a:latin typeface="Tahoma"/>
                <a:cs typeface="Tahoma"/>
              </a:rPr>
              <a:t>İnovasyon</a:t>
            </a:r>
            <a:r>
              <a:rPr sz="1650" spc="150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94A3B8"/>
                </a:solidFill>
                <a:latin typeface="Tahoma"/>
                <a:cs typeface="Tahoma"/>
              </a:rPr>
              <a:t>ve</a:t>
            </a:r>
            <a:r>
              <a:rPr sz="1650" spc="15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94A3B8"/>
                </a:solidFill>
                <a:latin typeface="Tahoma"/>
                <a:cs typeface="Tahoma"/>
              </a:rPr>
              <a:t>Teknolojinin</a:t>
            </a:r>
            <a:r>
              <a:rPr sz="1650" spc="150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94A3B8"/>
                </a:solidFill>
                <a:latin typeface="Tahoma"/>
                <a:cs typeface="Tahoma"/>
              </a:rPr>
              <a:t>Buluşma</a:t>
            </a:r>
            <a:r>
              <a:rPr sz="1650" spc="15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94A3B8"/>
                </a:solidFill>
                <a:latin typeface="Tahoma"/>
                <a:cs typeface="Tahoma"/>
              </a:rPr>
              <a:t>Noktası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7800" y="4267200"/>
            <a:ext cx="1688464" cy="647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F7FAFC"/>
                </a:solidFill>
                <a:latin typeface="Tahoma"/>
                <a:cs typeface="Tahoma"/>
              </a:rPr>
              <a:t>İsm</a:t>
            </a:r>
            <a:r>
              <a:rPr lang="tr-TR" sz="1800" b="1" spc="-114" dirty="0">
                <a:solidFill>
                  <a:srgbClr val="F7FAFC"/>
                </a:solidFill>
                <a:latin typeface="Tahoma"/>
                <a:cs typeface="Tahoma"/>
              </a:rPr>
              <a:t>a</a:t>
            </a:r>
            <a:r>
              <a:rPr sz="1800" b="1" spc="-114" dirty="0">
                <a:solidFill>
                  <a:srgbClr val="F7FAFC"/>
                </a:solidFill>
                <a:latin typeface="Tahoma"/>
                <a:cs typeface="Tahoma"/>
              </a:rPr>
              <a:t>il</a:t>
            </a:r>
            <a:r>
              <a:rPr sz="1800" b="1" spc="-4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7FAFC"/>
                </a:solidFill>
                <a:latin typeface="Tahoma"/>
                <a:cs typeface="Tahoma"/>
              </a:rPr>
              <a:t>Yılmaz</a:t>
            </a:r>
            <a:endParaRPr sz="18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350" dirty="0">
                <a:solidFill>
                  <a:srgbClr val="94A3B8"/>
                </a:solidFill>
                <a:latin typeface="Tahoma"/>
                <a:cs typeface="Tahoma"/>
              </a:rPr>
              <a:t>Etkinlik</a:t>
            </a:r>
            <a:r>
              <a:rPr sz="1350" spc="17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94A3B8"/>
                </a:solidFill>
                <a:latin typeface="Tahoma"/>
                <a:cs typeface="Tahoma"/>
              </a:rPr>
              <a:t>Koordinatörü</a:t>
            </a:r>
            <a:endParaRPr sz="1350" dirty="0">
              <a:latin typeface="Tahoma"/>
              <a:cs typeface="Tahoma"/>
            </a:endParaRP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980CC330-8C2A-5977-D6D3-20ADC28D0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838200"/>
            <a:ext cx="7467600" cy="24961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8800" y="352742"/>
            <a:ext cx="6870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20" dirty="0"/>
              <a:t>Değerlendirme</a:t>
            </a:r>
            <a:r>
              <a:rPr sz="3600" spc="-245" dirty="0"/>
              <a:t> </a:t>
            </a:r>
            <a:r>
              <a:rPr sz="3600" spc="-240" dirty="0"/>
              <a:t>Kriterleri </a:t>
            </a:r>
            <a:r>
              <a:rPr sz="3600" spc="-170" dirty="0"/>
              <a:t>Özeti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66737" y="1095375"/>
            <a:ext cx="11054080" cy="2624455"/>
            <a:chOff x="566737" y="1095375"/>
            <a:chExt cx="11054080" cy="2624455"/>
          </a:xfrm>
        </p:grpSpPr>
        <p:sp>
          <p:nvSpPr>
            <p:cNvPr id="4" name="object 4"/>
            <p:cNvSpPr/>
            <p:nvPr/>
          </p:nvSpPr>
          <p:spPr>
            <a:xfrm>
              <a:off x="571500" y="1095375"/>
              <a:ext cx="11049000" cy="19685"/>
            </a:xfrm>
            <a:custGeom>
              <a:avLst/>
              <a:gdLst/>
              <a:ahLst/>
              <a:cxnLst/>
              <a:rect l="l" t="t" r="r" b="b"/>
              <a:pathLst>
                <a:path w="11049000" h="19684">
                  <a:moveTo>
                    <a:pt x="11048999" y="19199"/>
                  </a:moveTo>
                  <a:lnTo>
                    <a:pt x="0" y="19199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19199"/>
                  </a:lnTo>
                  <a:close/>
                </a:path>
              </a:pathLst>
            </a:custGeom>
            <a:solidFill>
              <a:srgbClr val="37B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500" y="1428750"/>
              <a:ext cx="5382260" cy="2286000"/>
            </a:xfrm>
            <a:custGeom>
              <a:avLst/>
              <a:gdLst/>
              <a:ahLst/>
              <a:cxnLst/>
              <a:rect l="l" t="t" r="r" b="b"/>
              <a:pathLst>
                <a:path w="5382260" h="2286000">
                  <a:moveTo>
                    <a:pt x="5229315" y="2285999"/>
                  </a:moveTo>
                  <a:lnTo>
                    <a:pt x="152384" y="2285999"/>
                  </a:lnTo>
                  <a:lnTo>
                    <a:pt x="104219" y="2278231"/>
                  </a:lnTo>
                  <a:lnTo>
                    <a:pt x="62388" y="2256598"/>
                  </a:lnTo>
                  <a:lnTo>
                    <a:pt x="29401" y="2223611"/>
                  </a:lnTo>
                  <a:lnTo>
                    <a:pt x="7768" y="2181780"/>
                  </a:lnTo>
                  <a:lnTo>
                    <a:pt x="0" y="21336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229315" y="0"/>
                  </a:lnTo>
                  <a:lnTo>
                    <a:pt x="5287630" y="11599"/>
                  </a:lnTo>
                  <a:lnTo>
                    <a:pt x="5337067" y="44632"/>
                  </a:lnTo>
                  <a:lnTo>
                    <a:pt x="5370100" y="94069"/>
                  </a:lnTo>
                  <a:lnTo>
                    <a:pt x="5381699" y="152384"/>
                  </a:lnTo>
                  <a:lnTo>
                    <a:pt x="5381699" y="2133615"/>
                  </a:lnTo>
                  <a:lnTo>
                    <a:pt x="5373931" y="2181780"/>
                  </a:lnTo>
                  <a:lnTo>
                    <a:pt x="5352298" y="2223611"/>
                  </a:lnTo>
                  <a:lnTo>
                    <a:pt x="5319311" y="2256598"/>
                  </a:lnTo>
                  <a:lnTo>
                    <a:pt x="5277480" y="2278231"/>
                  </a:lnTo>
                  <a:lnTo>
                    <a:pt x="5229315" y="2285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500" y="1428750"/>
              <a:ext cx="5382260" cy="2286000"/>
            </a:xfrm>
            <a:custGeom>
              <a:avLst/>
              <a:gdLst/>
              <a:ahLst/>
              <a:cxnLst/>
              <a:rect l="l" t="t" r="r" b="b"/>
              <a:pathLst>
                <a:path w="5382260" h="22860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229315" y="0"/>
                  </a:lnTo>
                  <a:lnTo>
                    <a:pt x="5287630" y="11599"/>
                  </a:lnTo>
                  <a:lnTo>
                    <a:pt x="5337067" y="44632"/>
                  </a:lnTo>
                  <a:lnTo>
                    <a:pt x="5370100" y="94069"/>
                  </a:lnTo>
                  <a:lnTo>
                    <a:pt x="5381699" y="152384"/>
                  </a:lnTo>
                  <a:lnTo>
                    <a:pt x="5381699" y="2133615"/>
                  </a:lnTo>
                  <a:lnTo>
                    <a:pt x="5373931" y="2181780"/>
                  </a:lnTo>
                  <a:lnTo>
                    <a:pt x="5352298" y="2223611"/>
                  </a:lnTo>
                  <a:lnTo>
                    <a:pt x="5319311" y="2256598"/>
                  </a:lnTo>
                  <a:lnTo>
                    <a:pt x="5277480" y="2278231"/>
                  </a:lnTo>
                  <a:lnTo>
                    <a:pt x="5229315" y="2285999"/>
                  </a:lnTo>
                  <a:lnTo>
                    <a:pt x="152384" y="2285999"/>
                  </a:lnTo>
                  <a:lnTo>
                    <a:pt x="104219" y="2278231"/>
                  </a:lnTo>
                  <a:lnTo>
                    <a:pt x="62388" y="2256598"/>
                  </a:lnTo>
                  <a:lnTo>
                    <a:pt x="29401" y="2223611"/>
                  </a:lnTo>
                  <a:lnTo>
                    <a:pt x="7768" y="2181780"/>
                  </a:lnTo>
                  <a:lnTo>
                    <a:pt x="0" y="21336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6129" y="1742781"/>
              <a:ext cx="222250" cy="317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96925" y="2215515"/>
            <a:ext cx="487997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80" dirty="0">
                <a:solidFill>
                  <a:srgbClr val="F7FAFC"/>
                </a:solidFill>
                <a:latin typeface="Arial Black"/>
                <a:cs typeface="Arial Black"/>
              </a:rPr>
              <a:t>1.</a:t>
            </a:r>
            <a:r>
              <a:rPr sz="2000" spc="-185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110" dirty="0">
                <a:solidFill>
                  <a:srgbClr val="F7FAFC"/>
                </a:solidFill>
                <a:latin typeface="Arial Black"/>
                <a:cs typeface="Arial Black"/>
              </a:rPr>
              <a:t>Ürün</a:t>
            </a:r>
            <a:r>
              <a:rPr sz="2000" spc="-18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85" dirty="0">
                <a:solidFill>
                  <a:srgbClr val="F7FAFC"/>
                </a:solidFill>
                <a:latin typeface="Arial Black"/>
                <a:cs typeface="Arial Black"/>
              </a:rPr>
              <a:t>ve</a:t>
            </a:r>
            <a:r>
              <a:rPr sz="2000" spc="-185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7FAFC"/>
                </a:solidFill>
                <a:latin typeface="Arial Black"/>
                <a:cs typeface="Arial Black"/>
              </a:rPr>
              <a:t>İnovasyon</a:t>
            </a:r>
            <a:endParaRPr sz="2000">
              <a:latin typeface="Arial Black"/>
              <a:cs typeface="Arial Black"/>
            </a:endParaRPr>
          </a:p>
          <a:p>
            <a:pPr marL="12700" marR="5080">
              <a:lnSpc>
                <a:spcPct val="101000"/>
              </a:lnSpc>
              <a:spcBef>
                <a:spcPts val="910"/>
              </a:spcBef>
            </a:pP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Fikir</a:t>
            </a:r>
            <a:r>
              <a:rPr sz="13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özgünlüğü,</a:t>
            </a:r>
            <a:r>
              <a:rPr sz="13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problemin</a:t>
            </a:r>
            <a:r>
              <a:rPr sz="130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80" dirty="0">
                <a:solidFill>
                  <a:srgbClr val="CBD4E1"/>
                </a:solidFill>
                <a:latin typeface="Tahoma"/>
                <a:cs typeface="Tahoma"/>
              </a:rPr>
              <a:t>çözüm</a:t>
            </a:r>
            <a:r>
              <a:rPr sz="13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70" dirty="0">
                <a:solidFill>
                  <a:srgbClr val="CBD4E1"/>
                </a:solidFill>
                <a:latin typeface="Tahoma"/>
                <a:cs typeface="Tahoma"/>
              </a:rPr>
              <a:t>gücü</a:t>
            </a:r>
            <a:r>
              <a:rPr sz="13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30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kategori</a:t>
            </a:r>
            <a:r>
              <a:rPr sz="13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uygunluğu değerlendirilir.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400" b="1" spc="-90" dirty="0">
                <a:solidFill>
                  <a:srgbClr val="37BDF7"/>
                </a:solidFill>
                <a:latin typeface="Tahoma"/>
                <a:cs typeface="Tahoma"/>
              </a:rPr>
              <a:t>140</a:t>
            </a:r>
            <a:r>
              <a:rPr sz="1400" b="1" spc="-40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37BDF7"/>
                </a:solidFill>
                <a:latin typeface="Tahoma"/>
                <a:cs typeface="Tahoma"/>
              </a:rPr>
              <a:t>Puan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34112" y="1423987"/>
            <a:ext cx="5391785" cy="2295525"/>
            <a:chOff x="6234112" y="1423987"/>
            <a:chExt cx="5391785" cy="2295525"/>
          </a:xfrm>
        </p:grpSpPr>
        <p:sp>
          <p:nvSpPr>
            <p:cNvPr id="10" name="object 10"/>
            <p:cNvSpPr/>
            <p:nvPr/>
          </p:nvSpPr>
          <p:spPr>
            <a:xfrm>
              <a:off x="6238875" y="1428750"/>
              <a:ext cx="5382260" cy="2286000"/>
            </a:xfrm>
            <a:custGeom>
              <a:avLst/>
              <a:gdLst/>
              <a:ahLst/>
              <a:cxnLst/>
              <a:rect l="l" t="t" r="r" b="b"/>
              <a:pathLst>
                <a:path w="5382259" h="2286000">
                  <a:moveTo>
                    <a:pt x="5229315" y="2285999"/>
                  </a:moveTo>
                  <a:lnTo>
                    <a:pt x="152384" y="2285999"/>
                  </a:lnTo>
                  <a:lnTo>
                    <a:pt x="104219" y="2278231"/>
                  </a:lnTo>
                  <a:lnTo>
                    <a:pt x="62388" y="2256598"/>
                  </a:lnTo>
                  <a:lnTo>
                    <a:pt x="29401" y="2223611"/>
                  </a:lnTo>
                  <a:lnTo>
                    <a:pt x="7768" y="2181780"/>
                  </a:lnTo>
                  <a:lnTo>
                    <a:pt x="0" y="21336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229315" y="0"/>
                  </a:lnTo>
                  <a:lnTo>
                    <a:pt x="5287630" y="11599"/>
                  </a:lnTo>
                  <a:lnTo>
                    <a:pt x="5337067" y="44632"/>
                  </a:lnTo>
                  <a:lnTo>
                    <a:pt x="5370100" y="94069"/>
                  </a:lnTo>
                  <a:lnTo>
                    <a:pt x="5381699" y="152384"/>
                  </a:lnTo>
                  <a:lnTo>
                    <a:pt x="5381699" y="2133615"/>
                  </a:lnTo>
                  <a:lnTo>
                    <a:pt x="5373931" y="2181780"/>
                  </a:lnTo>
                  <a:lnTo>
                    <a:pt x="5352298" y="2223611"/>
                  </a:lnTo>
                  <a:lnTo>
                    <a:pt x="5319311" y="2256598"/>
                  </a:lnTo>
                  <a:lnTo>
                    <a:pt x="5277480" y="2278231"/>
                  </a:lnTo>
                  <a:lnTo>
                    <a:pt x="5229315" y="2285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38875" y="1428750"/>
              <a:ext cx="5382260" cy="2286000"/>
            </a:xfrm>
            <a:custGeom>
              <a:avLst/>
              <a:gdLst/>
              <a:ahLst/>
              <a:cxnLst/>
              <a:rect l="l" t="t" r="r" b="b"/>
              <a:pathLst>
                <a:path w="5382259" h="22860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229315" y="0"/>
                  </a:lnTo>
                  <a:lnTo>
                    <a:pt x="5287630" y="11599"/>
                  </a:lnTo>
                  <a:lnTo>
                    <a:pt x="5337067" y="44632"/>
                  </a:lnTo>
                  <a:lnTo>
                    <a:pt x="5370100" y="94069"/>
                  </a:lnTo>
                  <a:lnTo>
                    <a:pt x="5381699" y="152384"/>
                  </a:lnTo>
                  <a:lnTo>
                    <a:pt x="5381699" y="2133615"/>
                  </a:lnTo>
                  <a:lnTo>
                    <a:pt x="5373931" y="2181780"/>
                  </a:lnTo>
                  <a:lnTo>
                    <a:pt x="5352298" y="2223611"/>
                  </a:lnTo>
                  <a:lnTo>
                    <a:pt x="5319311" y="2256598"/>
                  </a:lnTo>
                  <a:lnTo>
                    <a:pt x="5277480" y="2278231"/>
                  </a:lnTo>
                  <a:lnTo>
                    <a:pt x="5229315" y="2285999"/>
                  </a:lnTo>
                  <a:lnTo>
                    <a:pt x="152384" y="2285999"/>
                  </a:lnTo>
                  <a:lnTo>
                    <a:pt x="104219" y="2278231"/>
                  </a:lnTo>
                  <a:lnTo>
                    <a:pt x="62388" y="2256598"/>
                  </a:lnTo>
                  <a:lnTo>
                    <a:pt x="29401" y="2223611"/>
                  </a:lnTo>
                  <a:lnTo>
                    <a:pt x="7768" y="2181780"/>
                  </a:lnTo>
                  <a:lnTo>
                    <a:pt x="0" y="21336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0004" y="1758656"/>
              <a:ext cx="349250" cy="2857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464300" y="2215515"/>
            <a:ext cx="4639310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70" dirty="0">
                <a:solidFill>
                  <a:srgbClr val="F7FAFC"/>
                </a:solidFill>
                <a:latin typeface="Arial Black"/>
                <a:cs typeface="Arial Black"/>
              </a:rPr>
              <a:t>2.</a:t>
            </a:r>
            <a:r>
              <a:rPr sz="2000" spc="-185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50" dirty="0" err="1">
                <a:solidFill>
                  <a:srgbClr val="F7FAFC"/>
                </a:solidFill>
                <a:latin typeface="Arial Black"/>
                <a:cs typeface="Arial Black"/>
              </a:rPr>
              <a:t>Sunum</a:t>
            </a:r>
            <a:endParaRPr sz="2000" dirty="0">
              <a:latin typeface="Arial Black"/>
              <a:cs typeface="Arial Black"/>
            </a:endParaRPr>
          </a:p>
          <a:p>
            <a:pPr marL="12700" marR="5080">
              <a:lnSpc>
                <a:spcPct val="101000"/>
              </a:lnSpc>
              <a:spcBef>
                <a:spcPts val="910"/>
              </a:spcBef>
            </a:pP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Teknik</a:t>
            </a:r>
            <a:r>
              <a:rPr sz="1300" spc="8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raporlama</a:t>
            </a:r>
            <a:r>
              <a:rPr sz="1300" spc="8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kalitesi,</a:t>
            </a:r>
            <a:r>
              <a:rPr sz="1300" spc="9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sahnedeki</a:t>
            </a:r>
            <a:r>
              <a:rPr sz="1300" spc="8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sunum</a:t>
            </a:r>
            <a:r>
              <a:rPr sz="1300" spc="9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performansı</a:t>
            </a:r>
            <a:r>
              <a:rPr sz="1300" spc="8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CBD4E1"/>
                </a:solidFill>
                <a:latin typeface="Tahoma"/>
                <a:cs typeface="Tahoma"/>
              </a:rPr>
              <a:t>ve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süre</a:t>
            </a:r>
            <a:r>
              <a:rPr sz="13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yönetimi</a:t>
            </a:r>
            <a:r>
              <a:rPr sz="130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ölçülür.</a:t>
            </a:r>
            <a:endParaRPr sz="13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400" b="1" dirty="0">
                <a:solidFill>
                  <a:srgbClr val="37BDF7"/>
                </a:solidFill>
                <a:latin typeface="Tahoma"/>
                <a:cs typeface="Tahoma"/>
              </a:rPr>
              <a:t>50</a:t>
            </a:r>
            <a:r>
              <a:rPr sz="1400" b="1" spc="-75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37BDF7"/>
                </a:solidFill>
                <a:latin typeface="Tahoma"/>
                <a:cs typeface="Tahoma"/>
              </a:rPr>
              <a:t>Puan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6737" y="3995737"/>
            <a:ext cx="5391785" cy="2295525"/>
            <a:chOff x="566737" y="3995737"/>
            <a:chExt cx="5391785" cy="2295525"/>
          </a:xfrm>
        </p:grpSpPr>
        <p:sp>
          <p:nvSpPr>
            <p:cNvPr id="15" name="object 15"/>
            <p:cNvSpPr/>
            <p:nvPr/>
          </p:nvSpPr>
          <p:spPr>
            <a:xfrm>
              <a:off x="571500" y="4000500"/>
              <a:ext cx="5382260" cy="2286000"/>
            </a:xfrm>
            <a:custGeom>
              <a:avLst/>
              <a:gdLst/>
              <a:ahLst/>
              <a:cxnLst/>
              <a:rect l="l" t="t" r="r" b="b"/>
              <a:pathLst>
                <a:path w="5382260" h="2286000">
                  <a:moveTo>
                    <a:pt x="5229315" y="2285999"/>
                  </a:moveTo>
                  <a:lnTo>
                    <a:pt x="152384" y="2285999"/>
                  </a:lnTo>
                  <a:lnTo>
                    <a:pt x="104219" y="2278231"/>
                  </a:lnTo>
                  <a:lnTo>
                    <a:pt x="62388" y="2256598"/>
                  </a:lnTo>
                  <a:lnTo>
                    <a:pt x="29401" y="2223611"/>
                  </a:lnTo>
                  <a:lnTo>
                    <a:pt x="7768" y="2181780"/>
                  </a:lnTo>
                  <a:lnTo>
                    <a:pt x="0" y="21336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229315" y="0"/>
                  </a:lnTo>
                  <a:lnTo>
                    <a:pt x="5287630" y="11599"/>
                  </a:lnTo>
                  <a:lnTo>
                    <a:pt x="5337067" y="44632"/>
                  </a:lnTo>
                  <a:lnTo>
                    <a:pt x="5370100" y="94069"/>
                  </a:lnTo>
                  <a:lnTo>
                    <a:pt x="5381699" y="152384"/>
                  </a:lnTo>
                  <a:lnTo>
                    <a:pt x="5381699" y="2133615"/>
                  </a:lnTo>
                  <a:lnTo>
                    <a:pt x="5373931" y="2181780"/>
                  </a:lnTo>
                  <a:lnTo>
                    <a:pt x="5352298" y="2223611"/>
                  </a:lnTo>
                  <a:lnTo>
                    <a:pt x="5319311" y="2256598"/>
                  </a:lnTo>
                  <a:lnTo>
                    <a:pt x="5277480" y="2278231"/>
                  </a:lnTo>
                  <a:lnTo>
                    <a:pt x="5229315" y="2285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1500" y="4000500"/>
              <a:ext cx="5382260" cy="2286000"/>
            </a:xfrm>
            <a:custGeom>
              <a:avLst/>
              <a:gdLst/>
              <a:ahLst/>
              <a:cxnLst/>
              <a:rect l="l" t="t" r="r" b="b"/>
              <a:pathLst>
                <a:path w="5382260" h="22860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229315" y="0"/>
                  </a:lnTo>
                  <a:lnTo>
                    <a:pt x="5287630" y="11599"/>
                  </a:lnTo>
                  <a:lnTo>
                    <a:pt x="5337067" y="44632"/>
                  </a:lnTo>
                  <a:lnTo>
                    <a:pt x="5370100" y="94069"/>
                  </a:lnTo>
                  <a:lnTo>
                    <a:pt x="5381699" y="152384"/>
                  </a:lnTo>
                  <a:lnTo>
                    <a:pt x="5381699" y="2133615"/>
                  </a:lnTo>
                  <a:lnTo>
                    <a:pt x="5373931" y="2181780"/>
                  </a:lnTo>
                  <a:lnTo>
                    <a:pt x="5352298" y="2223611"/>
                  </a:lnTo>
                  <a:lnTo>
                    <a:pt x="5319311" y="2256598"/>
                  </a:lnTo>
                  <a:lnTo>
                    <a:pt x="5277480" y="2278231"/>
                  </a:lnTo>
                  <a:lnTo>
                    <a:pt x="5229315" y="2285999"/>
                  </a:lnTo>
                  <a:lnTo>
                    <a:pt x="152384" y="2285999"/>
                  </a:lnTo>
                  <a:lnTo>
                    <a:pt x="104219" y="2278231"/>
                  </a:lnTo>
                  <a:lnTo>
                    <a:pt x="62388" y="2256598"/>
                  </a:lnTo>
                  <a:lnTo>
                    <a:pt x="29401" y="2223611"/>
                  </a:lnTo>
                  <a:lnTo>
                    <a:pt x="7768" y="2181780"/>
                  </a:lnTo>
                  <a:lnTo>
                    <a:pt x="0" y="21336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8504" y="4378031"/>
              <a:ext cx="317500" cy="1905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96925" y="4787265"/>
            <a:ext cx="472503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0" dirty="0">
                <a:solidFill>
                  <a:srgbClr val="F7FAFC"/>
                </a:solidFill>
                <a:latin typeface="Arial Black"/>
                <a:cs typeface="Arial Black"/>
              </a:rPr>
              <a:t>3.</a:t>
            </a:r>
            <a:r>
              <a:rPr sz="2000" spc="-17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90" dirty="0">
                <a:solidFill>
                  <a:srgbClr val="F7FAFC"/>
                </a:solidFill>
                <a:latin typeface="Arial Black"/>
                <a:cs typeface="Arial Black"/>
              </a:rPr>
              <a:t>Mühendislik</a:t>
            </a:r>
            <a:r>
              <a:rPr sz="2000" spc="-165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85" dirty="0">
                <a:solidFill>
                  <a:srgbClr val="F7FAFC"/>
                </a:solidFill>
                <a:latin typeface="Arial Black"/>
                <a:cs typeface="Arial Black"/>
              </a:rPr>
              <a:t>ve</a:t>
            </a:r>
            <a:r>
              <a:rPr sz="2000" spc="-165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F7FAFC"/>
                </a:solidFill>
                <a:latin typeface="Arial Black"/>
                <a:cs typeface="Arial Black"/>
              </a:rPr>
              <a:t>Demo</a:t>
            </a:r>
            <a:endParaRPr sz="2000">
              <a:latin typeface="Arial Black"/>
              <a:cs typeface="Arial Black"/>
            </a:endParaRPr>
          </a:p>
          <a:p>
            <a:pPr marL="12700" marR="5080">
              <a:lnSpc>
                <a:spcPct val="101000"/>
              </a:lnSpc>
              <a:spcBef>
                <a:spcPts val="910"/>
              </a:spcBef>
            </a:pP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Canlı</a:t>
            </a:r>
            <a:r>
              <a:rPr sz="1300" spc="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CBD4E1"/>
                </a:solidFill>
                <a:latin typeface="Tahoma"/>
                <a:cs typeface="Tahoma"/>
              </a:rPr>
              <a:t>çalışan</a:t>
            </a:r>
            <a:r>
              <a:rPr sz="1300" spc="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yazılım</a:t>
            </a:r>
            <a:r>
              <a:rPr sz="1300" spc="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demosu</a:t>
            </a:r>
            <a:r>
              <a:rPr sz="1300" spc="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300" spc="8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arka</a:t>
            </a:r>
            <a:r>
              <a:rPr sz="1300" spc="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plandaki</a:t>
            </a:r>
            <a:r>
              <a:rPr sz="1300" spc="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sistem/mimari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tasarımı</a:t>
            </a:r>
            <a:r>
              <a:rPr sz="1300" spc="21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incelenir.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400" b="1" dirty="0">
                <a:solidFill>
                  <a:srgbClr val="37BDF7"/>
                </a:solidFill>
                <a:latin typeface="Tahoma"/>
                <a:cs typeface="Tahoma"/>
              </a:rPr>
              <a:t>80</a:t>
            </a:r>
            <a:r>
              <a:rPr sz="1400" b="1" spc="-30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37BDF7"/>
                </a:solidFill>
                <a:latin typeface="Tahoma"/>
                <a:cs typeface="Tahoma"/>
              </a:rPr>
              <a:t>Puan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34112" y="3995737"/>
            <a:ext cx="5391785" cy="2295525"/>
            <a:chOff x="6234112" y="3995737"/>
            <a:chExt cx="5391785" cy="2295525"/>
          </a:xfrm>
        </p:grpSpPr>
        <p:sp>
          <p:nvSpPr>
            <p:cNvPr id="20" name="object 20"/>
            <p:cNvSpPr/>
            <p:nvPr/>
          </p:nvSpPr>
          <p:spPr>
            <a:xfrm>
              <a:off x="6238875" y="4000500"/>
              <a:ext cx="5382260" cy="2286000"/>
            </a:xfrm>
            <a:custGeom>
              <a:avLst/>
              <a:gdLst/>
              <a:ahLst/>
              <a:cxnLst/>
              <a:rect l="l" t="t" r="r" b="b"/>
              <a:pathLst>
                <a:path w="5382259" h="2286000">
                  <a:moveTo>
                    <a:pt x="5229315" y="2285999"/>
                  </a:moveTo>
                  <a:lnTo>
                    <a:pt x="152384" y="2285999"/>
                  </a:lnTo>
                  <a:lnTo>
                    <a:pt x="104219" y="2278231"/>
                  </a:lnTo>
                  <a:lnTo>
                    <a:pt x="62388" y="2256598"/>
                  </a:lnTo>
                  <a:lnTo>
                    <a:pt x="29401" y="2223611"/>
                  </a:lnTo>
                  <a:lnTo>
                    <a:pt x="7768" y="2181780"/>
                  </a:lnTo>
                  <a:lnTo>
                    <a:pt x="0" y="21336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229315" y="0"/>
                  </a:lnTo>
                  <a:lnTo>
                    <a:pt x="5287630" y="11599"/>
                  </a:lnTo>
                  <a:lnTo>
                    <a:pt x="5337067" y="44632"/>
                  </a:lnTo>
                  <a:lnTo>
                    <a:pt x="5370100" y="94069"/>
                  </a:lnTo>
                  <a:lnTo>
                    <a:pt x="5381699" y="152384"/>
                  </a:lnTo>
                  <a:lnTo>
                    <a:pt x="5381699" y="2133615"/>
                  </a:lnTo>
                  <a:lnTo>
                    <a:pt x="5373931" y="2181780"/>
                  </a:lnTo>
                  <a:lnTo>
                    <a:pt x="5352298" y="2223611"/>
                  </a:lnTo>
                  <a:lnTo>
                    <a:pt x="5319311" y="2256598"/>
                  </a:lnTo>
                  <a:lnTo>
                    <a:pt x="5277480" y="2278231"/>
                  </a:lnTo>
                  <a:lnTo>
                    <a:pt x="5229315" y="2285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38875" y="4000500"/>
              <a:ext cx="5382260" cy="2286000"/>
            </a:xfrm>
            <a:custGeom>
              <a:avLst/>
              <a:gdLst/>
              <a:ahLst/>
              <a:cxnLst/>
              <a:rect l="l" t="t" r="r" b="b"/>
              <a:pathLst>
                <a:path w="5382259" h="22860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5229315" y="0"/>
                  </a:lnTo>
                  <a:lnTo>
                    <a:pt x="5287630" y="11599"/>
                  </a:lnTo>
                  <a:lnTo>
                    <a:pt x="5337067" y="44632"/>
                  </a:lnTo>
                  <a:lnTo>
                    <a:pt x="5370100" y="94069"/>
                  </a:lnTo>
                  <a:lnTo>
                    <a:pt x="5381699" y="152384"/>
                  </a:lnTo>
                  <a:lnTo>
                    <a:pt x="5381699" y="2133615"/>
                  </a:lnTo>
                  <a:lnTo>
                    <a:pt x="5373931" y="2181780"/>
                  </a:lnTo>
                  <a:lnTo>
                    <a:pt x="5352298" y="2223611"/>
                  </a:lnTo>
                  <a:lnTo>
                    <a:pt x="5319311" y="2256598"/>
                  </a:lnTo>
                  <a:lnTo>
                    <a:pt x="5277480" y="2278231"/>
                  </a:lnTo>
                  <a:lnTo>
                    <a:pt x="5229315" y="2285999"/>
                  </a:lnTo>
                  <a:lnTo>
                    <a:pt x="152384" y="2285999"/>
                  </a:lnTo>
                  <a:lnTo>
                    <a:pt x="104219" y="2278231"/>
                  </a:lnTo>
                  <a:lnTo>
                    <a:pt x="62388" y="2256598"/>
                  </a:lnTo>
                  <a:lnTo>
                    <a:pt x="29401" y="2223611"/>
                  </a:lnTo>
                  <a:lnTo>
                    <a:pt x="7768" y="2181780"/>
                  </a:lnTo>
                  <a:lnTo>
                    <a:pt x="0" y="21336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5879" y="4330406"/>
              <a:ext cx="317500" cy="28575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464300" y="4787265"/>
            <a:ext cx="4268470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F7FAFC"/>
                </a:solidFill>
                <a:latin typeface="Arial Black"/>
                <a:cs typeface="Arial Black"/>
              </a:rPr>
              <a:t>4.</a:t>
            </a:r>
            <a:r>
              <a:rPr sz="2000" spc="-175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95" dirty="0">
                <a:solidFill>
                  <a:srgbClr val="F7FAFC"/>
                </a:solidFill>
                <a:latin typeface="Arial Black"/>
                <a:cs typeface="Arial Black"/>
              </a:rPr>
              <a:t>Sponsor</a:t>
            </a:r>
            <a:r>
              <a:rPr sz="2000" spc="-175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7FAFC"/>
                </a:solidFill>
                <a:latin typeface="Arial Black"/>
                <a:cs typeface="Arial Black"/>
              </a:rPr>
              <a:t>Entegrasyonu</a:t>
            </a:r>
            <a:endParaRPr sz="2000">
              <a:latin typeface="Arial Black"/>
              <a:cs typeface="Arial Black"/>
            </a:endParaRPr>
          </a:p>
          <a:p>
            <a:pPr marL="12700" marR="5080">
              <a:lnSpc>
                <a:spcPct val="101000"/>
              </a:lnSpc>
              <a:spcBef>
                <a:spcPts val="910"/>
              </a:spcBef>
            </a:pP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Puq.ai</a:t>
            </a:r>
            <a:r>
              <a:rPr sz="1300" spc="10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30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Diginova</a:t>
            </a:r>
            <a:r>
              <a:rPr sz="1300" spc="10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servislerinin</a:t>
            </a:r>
            <a:r>
              <a:rPr sz="130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projenize</a:t>
            </a:r>
            <a:r>
              <a:rPr sz="1300" spc="10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nasıl</a:t>
            </a:r>
            <a:r>
              <a:rPr sz="130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entegre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edildiğine</a:t>
            </a:r>
            <a:r>
              <a:rPr sz="1300" spc="2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bakılır.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400" b="1" spc="-90" dirty="0">
                <a:solidFill>
                  <a:srgbClr val="37BDF7"/>
                </a:solidFill>
                <a:latin typeface="Tahoma"/>
                <a:cs typeface="Tahoma"/>
              </a:rPr>
              <a:t>140</a:t>
            </a:r>
            <a:r>
              <a:rPr sz="1400" b="1" spc="-40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37BDF7"/>
                </a:solidFill>
                <a:latin typeface="Tahoma"/>
                <a:cs typeface="Tahoma"/>
              </a:rPr>
              <a:t>Puan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sz="3600" spc="-685" dirty="0"/>
              <a:t>1.</a:t>
            </a:r>
            <a:r>
              <a:rPr sz="3600" spc="-320" dirty="0"/>
              <a:t> </a:t>
            </a:r>
            <a:r>
              <a:rPr sz="3600" spc="-195" dirty="0"/>
              <a:t>Ürün</a:t>
            </a:r>
            <a:r>
              <a:rPr sz="3600" spc="-315" dirty="0"/>
              <a:t> </a:t>
            </a:r>
            <a:r>
              <a:rPr sz="3600" spc="-114" dirty="0"/>
              <a:t>ve</a:t>
            </a:r>
            <a:r>
              <a:rPr sz="3600" spc="-315" dirty="0"/>
              <a:t> </a:t>
            </a:r>
            <a:r>
              <a:rPr sz="3600" spc="-120" dirty="0"/>
              <a:t>İnovasyon</a:t>
            </a:r>
            <a:r>
              <a:rPr sz="3600" spc="-315" dirty="0"/>
              <a:t> </a:t>
            </a:r>
            <a:r>
              <a:rPr sz="2400" spc="-150" dirty="0">
                <a:solidFill>
                  <a:srgbClr val="94A3B8"/>
                </a:solidFill>
              </a:rPr>
              <a:t>(140</a:t>
            </a:r>
            <a:r>
              <a:rPr sz="2400" spc="-210" dirty="0">
                <a:solidFill>
                  <a:srgbClr val="94A3B8"/>
                </a:solidFill>
              </a:rPr>
              <a:t> </a:t>
            </a:r>
            <a:r>
              <a:rPr sz="2400" spc="-10" dirty="0">
                <a:solidFill>
                  <a:srgbClr val="94A3B8"/>
                </a:solidFill>
              </a:rPr>
              <a:t>Puan)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571500" y="1095375"/>
            <a:ext cx="11049000" cy="19685"/>
          </a:xfrm>
          <a:custGeom>
            <a:avLst/>
            <a:gdLst/>
            <a:ahLst/>
            <a:cxnLst/>
            <a:rect l="l" t="t" r="r" b="b"/>
            <a:pathLst>
              <a:path w="11049000" h="19684">
                <a:moveTo>
                  <a:pt x="11048999" y="19199"/>
                </a:moveTo>
                <a:lnTo>
                  <a:pt x="0" y="191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1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66737" y="1519237"/>
            <a:ext cx="3438525" cy="4010025"/>
            <a:chOff x="566737" y="1519237"/>
            <a:chExt cx="3438525" cy="4010025"/>
          </a:xfrm>
        </p:grpSpPr>
        <p:sp>
          <p:nvSpPr>
            <p:cNvPr id="6" name="object 6"/>
            <p:cNvSpPr/>
            <p:nvPr/>
          </p:nvSpPr>
          <p:spPr>
            <a:xfrm>
              <a:off x="57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604" y="1853906"/>
              <a:ext cx="231775" cy="3016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96925" y="2143125"/>
            <a:ext cx="2924175" cy="176657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spc="-165" dirty="0">
                <a:solidFill>
                  <a:srgbClr val="F7FAFC"/>
                </a:solidFill>
                <a:latin typeface="Arial Black"/>
                <a:cs typeface="Arial Black"/>
              </a:rPr>
              <a:t>Fikir</a:t>
            </a:r>
            <a:r>
              <a:rPr sz="2000" spc="-155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7FAFC"/>
                </a:solidFill>
                <a:latin typeface="Arial Black"/>
                <a:cs typeface="Arial Black"/>
              </a:rPr>
              <a:t>Özgünlüğü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400" b="1" dirty="0">
                <a:solidFill>
                  <a:srgbClr val="37BDF7"/>
                </a:solidFill>
                <a:latin typeface="Tahoma"/>
                <a:cs typeface="Tahoma"/>
              </a:rPr>
              <a:t>40</a:t>
            </a:r>
            <a:r>
              <a:rPr sz="1400" b="1" spc="5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37BDF7"/>
                </a:solidFill>
                <a:latin typeface="Tahoma"/>
                <a:cs typeface="Tahoma"/>
              </a:rPr>
              <a:t>Puan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01000"/>
              </a:lnSpc>
              <a:spcBef>
                <a:spcPts val="1085"/>
              </a:spcBef>
            </a:pP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Geliştirilen</a:t>
            </a:r>
            <a:r>
              <a:rPr sz="1300" spc="1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projenin</a:t>
            </a:r>
            <a:r>
              <a:rPr sz="1300" spc="1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daha</a:t>
            </a:r>
            <a:r>
              <a:rPr sz="1300" spc="1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önce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yapılmış</a:t>
            </a:r>
            <a:r>
              <a:rPr sz="1300" spc="1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sıradan</a:t>
            </a:r>
            <a:r>
              <a:rPr sz="1300" spc="1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bir</a:t>
            </a:r>
            <a:r>
              <a:rPr sz="1300" spc="1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kopya</a:t>
            </a:r>
            <a:r>
              <a:rPr sz="1300" spc="1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CBD4E1"/>
                </a:solidFill>
                <a:latin typeface="Tahoma"/>
                <a:cs typeface="Tahoma"/>
              </a:rPr>
              <a:t>olup </a:t>
            </a:r>
            <a:r>
              <a:rPr sz="1300" spc="30" dirty="0">
                <a:solidFill>
                  <a:srgbClr val="CBD4E1"/>
                </a:solidFill>
                <a:latin typeface="Tahoma"/>
                <a:cs typeface="Tahoma"/>
              </a:rPr>
              <a:t>olmadığı</a:t>
            </a:r>
            <a:r>
              <a:rPr sz="1300" spc="16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CBD4E1"/>
                </a:solidFill>
                <a:latin typeface="Tahoma"/>
                <a:cs typeface="Tahoma"/>
              </a:rPr>
              <a:t>değerlendirilecek.</a:t>
            </a:r>
            <a:r>
              <a:rPr sz="1300" spc="17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Yaratıcılık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ön</a:t>
            </a:r>
            <a:r>
              <a:rPr sz="130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planda</a:t>
            </a:r>
            <a:r>
              <a:rPr sz="130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olmalı.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76737" y="1519237"/>
            <a:ext cx="3438525" cy="4010025"/>
            <a:chOff x="4376737" y="1519237"/>
            <a:chExt cx="3438525" cy="4010025"/>
          </a:xfrm>
        </p:grpSpPr>
        <p:sp>
          <p:nvSpPr>
            <p:cNvPr id="11" name="object 11"/>
            <p:cNvSpPr/>
            <p:nvPr/>
          </p:nvSpPr>
          <p:spPr>
            <a:xfrm>
              <a:off x="438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8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0254" y="1853906"/>
              <a:ext cx="254000" cy="28575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606925" y="2143125"/>
            <a:ext cx="2955290" cy="176657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spc="-35" dirty="0">
                <a:solidFill>
                  <a:srgbClr val="F7FAFC"/>
                </a:solidFill>
                <a:latin typeface="Arial Black"/>
                <a:cs typeface="Arial Black"/>
              </a:rPr>
              <a:t>Çözüm</a:t>
            </a:r>
            <a:r>
              <a:rPr sz="2000" spc="-17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F7FAFC"/>
                </a:solidFill>
                <a:latin typeface="Arial Black"/>
                <a:cs typeface="Arial Black"/>
              </a:rPr>
              <a:t>Gücü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400" b="1" dirty="0">
                <a:solidFill>
                  <a:srgbClr val="37BDF7"/>
                </a:solidFill>
                <a:latin typeface="Tahoma"/>
                <a:cs typeface="Tahoma"/>
              </a:rPr>
              <a:t>50</a:t>
            </a:r>
            <a:r>
              <a:rPr sz="1400" b="1" spc="-75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37BDF7"/>
                </a:solidFill>
                <a:latin typeface="Tahoma"/>
                <a:cs typeface="Tahoma"/>
              </a:rPr>
              <a:t>Puan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01000"/>
              </a:lnSpc>
              <a:spcBef>
                <a:spcPts val="1085"/>
              </a:spcBef>
            </a:pP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Projenin</a:t>
            </a:r>
            <a:r>
              <a:rPr sz="130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ele</a:t>
            </a:r>
            <a:r>
              <a:rPr sz="130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aldığı</a:t>
            </a:r>
            <a:r>
              <a:rPr sz="130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CBD4E1"/>
                </a:solidFill>
                <a:latin typeface="Tahoma"/>
                <a:cs typeface="Tahoma"/>
              </a:rPr>
              <a:t>probleme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gerçekten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işe</a:t>
            </a:r>
            <a:r>
              <a:rPr sz="13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yarar,</a:t>
            </a:r>
            <a:r>
              <a:rPr sz="13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ticari</a:t>
            </a:r>
            <a:r>
              <a:rPr sz="13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veya</a:t>
            </a:r>
            <a:r>
              <a:rPr sz="13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CBD4E1"/>
                </a:solidFill>
                <a:latin typeface="Tahoma"/>
                <a:cs typeface="Tahoma"/>
              </a:rPr>
              <a:t>sosyal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bir</a:t>
            </a:r>
            <a:r>
              <a:rPr sz="1300" spc="1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karşılığı</a:t>
            </a:r>
            <a:r>
              <a:rPr sz="1300" spc="1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olan</a:t>
            </a:r>
            <a:r>
              <a:rPr sz="1300" spc="1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kalıcı</a:t>
            </a:r>
            <a:r>
              <a:rPr sz="1300" spc="1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bir</a:t>
            </a:r>
            <a:r>
              <a:rPr sz="1300" spc="1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CBD4E1"/>
                </a:solidFill>
                <a:latin typeface="Tahoma"/>
                <a:cs typeface="Tahoma"/>
              </a:rPr>
              <a:t>çözüm</a:t>
            </a:r>
            <a:r>
              <a:rPr sz="1300" spc="5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üretip</a:t>
            </a:r>
            <a:r>
              <a:rPr sz="1300" spc="18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üretmediğine</a:t>
            </a:r>
            <a:r>
              <a:rPr sz="1300" spc="18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bakılacak.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86737" y="1519237"/>
            <a:ext cx="3438525" cy="4010025"/>
            <a:chOff x="8186737" y="1519237"/>
            <a:chExt cx="3438525" cy="4010025"/>
          </a:xfrm>
        </p:grpSpPr>
        <p:sp>
          <p:nvSpPr>
            <p:cNvPr id="16" name="object 16"/>
            <p:cNvSpPr/>
            <p:nvPr/>
          </p:nvSpPr>
          <p:spPr>
            <a:xfrm>
              <a:off x="819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9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24379" y="1838031"/>
              <a:ext cx="301625" cy="3175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416925" y="2143125"/>
            <a:ext cx="2840990" cy="196659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spc="-105" dirty="0">
                <a:solidFill>
                  <a:srgbClr val="F7FAFC"/>
                </a:solidFill>
                <a:latin typeface="Arial Black"/>
                <a:cs typeface="Arial Black"/>
              </a:rPr>
              <a:t>Kategoriye</a:t>
            </a:r>
            <a:r>
              <a:rPr sz="2000" spc="-11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7FAFC"/>
                </a:solidFill>
                <a:latin typeface="Arial Black"/>
                <a:cs typeface="Arial Black"/>
              </a:rPr>
              <a:t>Uygunluk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400" b="1" dirty="0">
                <a:solidFill>
                  <a:srgbClr val="37BDF7"/>
                </a:solidFill>
                <a:latin typeface="Tahoma"/>
                <a:cs typeface="Tahoma"/>
              </a:rPr>
              <a:t>50</a:t>
            </a:r>
            <a:r>
              <a:rPr sz="1400" b="1" spc="-75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37BDF7"/>
                </a:solidFill>
                <a:latin typeface="Tahoma"/>
                <a:cs typeface="Tahoma"/>
              </a:rPr>
              <a:t>Puan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01000"/>
              </a:lnSpc>
              <a:spcBef>
                <a:spcPts val="1085"/>
              </a:spcBef>
            </a:pP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Sağlık,</a:t>
            </a:r>
            <a:r>
              <a:rPr sz="1300" spc="1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Sanayi</a:t>
            </a:r>
            <a:r>
              <a:rPr sz="1300" spc="1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veya</a:t>
            </a:r>
            <a:r>
              <a:rPr sz="1300" spc="1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Eğitim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kategorilerinden</a:t>
            </a:r>
            <a:r>
              <a:rPr sz="130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birine</a:t>
            </a:r>
            <a:r>
              <a:rPr sz="130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CBD4E1"/>
                </a:solidFill>
                <a:latin typeface="Tahoma"/>
                <a:cs typeface="Tahoma"/>
              </a:rPr>
              <a:t>tam</a:t>
            </a:r>
            <a:r>
              <a:rPr sz="130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oturması 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300" spc="-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CBD4E1"/>
                </a:solidFill>
                <a:latin typeface="Tahoma"/>
                <a:cs typeface="Tahoma"/>
              </a:rPr>
              <a:t>yapay</a:t>
            </a:r>
            <a:r>
              <a:rPr sz="1300" spc="-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zekanın</a:t>
            </a:r>
            <a:r>
              <a:rPr sz="1300" spc="-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85" dirty="0">
                <a:solidFill>
                  <a:srgbClr val="CBD4E1"/>
                </a:solidFill>
                <a:latin typeface="Tahoma"/>
                <a:cs typeface="Tahoma"/>
              </a:rPr>
              <a:t>sadece</a:t>
            </a:r>
            <a:r>
              <a:rPr sz="1300" spc="-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bir</a:t>
            </a:r>
            <a:r>
              <a:rPr sz="1300" spc="-20" dirty="0">
                <a:solidFill>
                  <a:srgbClr val="CBD4E1"/>
                </a:solidFill>
                <a:latin typeface="Tahoma"/>
                <a:cs typeface="Tahoma"/>
              </a:rPr>
              <a:t> yama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değil,</a:t>
            </a:r>
            <a:r>
              <a:rPr sz="1300" spc="1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problemin</a:t>
            </a:r>
            <a:r>
              <a:rPr sz="1300" spc="1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doğal</a:t>
            </a:r>
            <a:r>
              <a:rPr sz="1300" spc="1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bir</a:t>
            </a:r>
            <a:r>
              <a:rPr sz="1300" spc="1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65" dirty="0">
                <a:solidFill>
                  <a:srgbClr val="CBD4E1"/>
                </a:solidFill>
                <a:latin typeface="Tahoma"/>
                <a:cs typeface="Tahoma"/>
              </a:rPr>
              <a:t>çözümü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olması</a:t>
            </a:r>
            <a:r>
              <a:rPr sz="1300" spc="2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aranacak.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2775" y="352742"/>
            <a:ext cx="1113042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sz="3600" spc="-310" dirty="0"/>
              <a:t>2. </a:t>
            </a:r>
            <a:r>
              <a:rPr sz="3600" spc="-90" dirty="0" err="1"/>
              <a:t>Sunum</a:t>
            </a:r>
            <a:r>
              <a:rPr sz="3600" spc="-305" dirty="0"/>
              <a:t> </a:t>
            </a:r>
            <a:r>
              <a:rPr sz="2400" dirty="0">
                <a:solidFill>
                  <a:srgbClr val="94A3B8"/>
                </a:solidFill>
              </a:rPr>
              <a:t>(50</a:t>
            </a:r>
            <a:r>
              <a:rPr sz="2400" spc="-204" dirty="0">
                <a:solidFill>
                  <a:srgbClr val="94A3B8"/>
                </a:solidFill>
              </a:rPr>
              <a:t> </a:t>
            </a:r>
            <a:r>
              <a:rPr sz="2400" spc="-10" dirty="0">
                <a:solidFill>
                  <a:srgbClr val="94A3B8"/>
                </a:solidFill>
              </a:rPr>
              <a:t>Puan)</a:t>
            </a:r>
            <a:endParaRPr sz="2400" dirty="0"/>
          </a:p>
        </p:txBody>
      </p:sp>
      <p:sp>
        <p:nvSpPr>
          <p:cNvPr id="3" name="object 3"/>
          <p:cNvSpPr/>
          <p:nvPr/>
        </p:nvSpPr>
        <p:spPr>
          <a:xfrm>
            <a:off x="571500" y="1095375"/>
            <a:ext cx="11049000" cy="19685"/>
          </a:xfrm>
          <a:custGeom>
            <a:avLst/>
            <a:gdLst/>
            <a:ahLst/>
            <a:cxnLst/>
            <a:rect l="l" t="t" r="r" b="b"/>
            <a:pathLst>
              <a:path w="11049000" h="19684">
                <a:moveTo>
                  <a:pt x="11048999" y="19199"/>
                </a:moveTo>
                <a:lnTo>
                  <a:pt x="0" y="191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1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6737" y="1519237"/>
            <a:ext cx="3438525" cy="4010025"/>
            <a:chOff x="566737" y="1519237"/>
            <a:chExt cx="3438525" cy="4010025"/>
          </a:xfrm>
        </p:grpSpPr>
        <p:sp>
          <p:nvSpPr>
            <p:cNvPr id="5" name="object 5"/>
            <p:cNvSpPr/>
            <p:nvPr/>
          </p:nvSpPr>
          <p:spPr>
            <a:xfrm>
              <a:off x="57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7650" y="1832050"/>
              <a:ext cx="260350" cy="317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96925" y="2197553"/>
            <a:ext cx="2967990" cy="144526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2000" spc="-10" dirty="0">
                <a:solidFill>
                  <a:srgbClr val="F7FAFC"/>
                </a:solidFill>
                <a:latin typeface="Arial Black"/>
                <a:cs typeface="Arial Black"/>
              </a:rPr>
              <a:t>Raporlama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spc="-240" dirty="0">
                <a:solidFill>
                  <a:srgbClr val="37BDF7"/>
                </a:solidFill>
                <a:latin typeface="Arial Black"/>
                <a:cs typeface="Arial Black"/>
              </a:rPr>
              <a:t>10</a:t>
            </a:r>
            <a:r>
              <a:rPr sz="1400" spc="-125" dirty="0">
                <a:solidFill>
                  <a:srgbClr val="37BDF7"/>
                </a:solidFill>
                <a:latin typeface="Arial Black"/>
                <a:cs typeface="Arial Black"/>
              </a:rPr>
              <a:t> </a:t>
            </a:r>
            <a:r>
              <a:rPr sz="1400" spc="-20" dirty="0">
                <a:solidFill>
                  <a:srgbClr val="37BDF7"/>
                </a:solidFill>
                <a:latin typeface="Arial Black"/>
                <a:cs typeface="Arial Black"/>
              </a:rPr>
              <a:t>Puan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000"/>
              </a:lnSpc>
              <a:spcBef>
                <a:spcPts val="855"/>
              </a:spcBef>
            </a:pP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Takımların</a:t>
            </a:r>
            <a:r>
              <a:rPr sz="1300" spc="17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kullandıkları</a:t>
            </a:r>
            <a:r>
              <a:rPr sz="1300" spc="1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CBD4E1"/>
                </a:solidFill>
                <a:latin typeface="Tahoma"/>
                <a:cs typeface="Tahoma"/>
              </a:rPr>
              <a:t>teknolojileri</a:t>
            </a:r>
            <a:r>
              <a:rPr sz="1300" spc="2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CBD4E1"/>
                </a:solidFill>
                <a:latin typeface="Tahoma"/>
                <a:cs typeface="Tahoma"/>
              </a:rPr>
              <a:t>ve </a:t>
            </a:r>
            <a:r>
              <a:rPr sz="1300" spc="45" dirty="0">
                <a:solidFill>
                  <a:srgbClr val="CBD4E1"/>
                </a:solidFill>
                <a:latin typeface="Tahoma"/>
                <a:cs typeface="Tahoma"/>
              </a:rPr>
              <a:t>yarışma</a:t>
            </a:r>
            <a:r>
              <a:rPr sz="1300" spc="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45" dirty="0">
                <a:solidFill>
                  <a:srgbClr val="CBD4E1"/>
                </a:solidFill>
                <a:latin typeface="Tahoma"/>
                <a:cs typeface="Tahoma"/>
              </a:rPr>
              <a:t>sürecini</a:t>
            </a:r>
            <a:r>
              <a:rPr sz="1300" spc="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anlattıkları</a:t>
            </a:r>
            <a:r>
              <a:rPr sz="1300" spc="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CBD4E1"/>
                </a:solidFill>
                <a:latin typeface="Tahoma"/>
                <a:cs typeface="Tahoma"/>
              </a:rPr>
              <a:t>kısa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raporun</a:t>
            </a:r>
            <a:r>
              <a:rPr sz="130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45" dirty="0">
                <a:solidFill>
                  <a:srgbClr val="CBD4E1"/>
                </a:solidFill>
                <a:latin typeface="Tahoma"/>
                <a:cs typeface="Tahoma"/>
              </a:rPr>
              <a:t>profesyonelliği</a:t>
            </a:r>
            <a:r>
              <a:rPr sz="130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puanlanacak.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76737" y="1519237"/>
            <a:ext cx="3438525" cy="4010025"/>
            <a:chOff x="4376737" y="1519237"/>
            <a:chExt cx="3438525" cy="4010025"/>
          </a:xfrm>
        </p:grpSpPr>
        <p:sp>
          <p:nvSpPr>
            <p:cNvPr id="10" name="object 10"/>
            <p:cNvSpPr/>
            <p:nvPr/>
          </p:nvSpPr>
          <p:spPr>
            <a:xfrm>
              <a:off x="438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0025" y="1832050"/>
              <a:ext cx="352425" cy="3016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06925" y="2197553"/>
            <a:ext cx="2749550" cy="164528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2000" spc="-50" dirty="0">
                <a:solidFill>
                  <a:srgbClr val="F7FAFC"/>
                </a:solidFill>
                <a:latin typeface="Arial Black"/>
                <a:cs typeface="Arial Black"/>
              </a:rPr>
              <a:t>Sunum</a:t>
            </a:r>
            <a:r>
              <a:rPr sz="2000" spc="-17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7FAFC"/>
                </a:solidFill>
                <a:latin typeface="Arial Black"/>
                <a:cs typeface="Arial Black"/>
              </a:rPr>
              <a:t>Performansı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spc="-35" dirty="0">
                <a:solidFill>
                  <a:srgbClr val="37BDF7"/>
                </a:solidFill>
                <a:latin typeface="Arial Black"/>
                <a:cs typeface="Arial Black"/>
              </a:rPr>
              <a:t>40</a:t>
            </a:r>
            <a:r>
              <a:rPr sz="1400" spc="-125" dirty="0">
                <a:solidFill>
                  <a:srgbClr val="37BDF7"/>
                </a:solidFill>
                <a:latin typeface="Arial Black"/>
                <a:cs typeface="Arial Black"/>
              </a:rPr>
              <a:t> </a:t>
            </a:r>
            <a:r>
              <a:rPr sz="1400" spc="-20" dirty="0">
                <a:solidFill>
                  <a:srgbClr val="37BDF7"/>
                </a:solidFill>
                <a:latin typeface="Arial Black"/>
                <a:cs typeface="Arial Black"/>
              </a:rPr>
              <a:t>Puan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000"/>
              </a:lnSpc>
              <a:spcBef>
                <a:spcPts val="855"/>
              </a:spcBef>
            </a:pP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Takımın</a:t>
            </a:r>
            <a:r>
              <a:rPr sz="1300" spc="9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sahnede</a:t>
            </a:r>
            <a:r>
              <a:rPr sz="13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projeyi</a:t>
            </a:r>
            <a:r>
              <a:rPr sz="13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anlatma,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jüriyi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ikna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etme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 ve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Q&amp;A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45" dirty="0">
                <a:solidFill>
                  <a:srgbClr val="CBD4E1"/>
                </a:solidFill>
                <a:latin typeface="Tahoma"/>
                <a:cs typeface="Tahoma"/>
              </a:rPr>
              <a:t>bölümünde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sorulara</a:t>
            </a:r>
            <a:r>
              <a:rPr sz="1300" spc="17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verdiği</a:t>
            </a:r>
            <a:r>
              <a:rPr sz="1300" spc="17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45" dirty="0">
                <a:solidFill>
                  <a:srgbClr val="CBD4E1"/>
                </a:solidFill>
                <a:latin typeface="Tahoma"/>
                <a:cs typeface="Tahoma"/>
              </a:rPr>
              <a:t>cevapların</a:t>
            </a:r>
            <a:r>
              <a:rPr sz="1300" spc="1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kalitesi </a:t>
            </a:r>
            <a:r>
              <a:rPr sz="1300" spc="45" dirty="0">
                <a:solidFill>
                  <a:srgbClr val="CBD4E1"/>
                </a:solidFill>
                <a:latin typeface="Tahoma"/>
                <a:cs typeface="Tahoma"/>
              </a:rPr>
              <a:t>ölçülecek.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86737" y="1519237"/>
            <a:ext cx="3438525" cy="4010025"/>
            <a:chOff x="8186737" y="1519237"/>
            <a:chExt cx="3438525" cy="4010025"/>
          </a:xfrm>
        </p:grpSpPr>
        <p:sp>
          <p:nvSpPr>
            <p:cNvPr id="15" name="object 15"/>
            <p:cNvSpPr/>
            <p:nvPr/>
          </p:nvSpPr>
          <p:spPr>
            <a:xfrm>
              <a:off x="819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9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99550" y="1813000"/>
              <a:ext cx="314325" cy="34607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416925" y="2197553"/>
            <a:ext cx="2665095" cy="164528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2000" spc="-160" dirty="0">
                <a:solidFill>
                  <a:srgbClr val="F7FAFC"/>
                </a:solidFill>
                <a:latin typeface="Arial Black"/>
                <a:cs typeface="Arial Black"/>
              </a:rPr>
              <a:t>Kritik </a:t>
            </a:r>
            <a:r>
              <a:rPr sz="2000" spc="-120" dirty="0">
                <a:solidFill>
                  <a:srgbClr val="F7FAFC"/>
                </a:solidFill>
                <a:latin typeface="Arial Black"/>
                <a:cs typeface="Arial Black"/>
              </a:rPr>
              <a:t>Süre</a:t>
            </a:r>
            <a:r>
              <a:rPr sz="2000" spc="-16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7FAFC"/>
                </a:solidFill>
                <a:latin typeface="Arial Black"/>
                <a:cs typeface="Arial Black"/>
              </a:rPr>
              <a:t>Kuralı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spc="-55" dirty="0">
                <a:solidFill>
                  <a:srgbClr val="EE4444"/>
                </a:solidFill>
                <a:latin typeface="Arial Black"/>
                <a:cs typeface="Arial Black"/>
              </a:rPr>
              <a:t>Ceza</a:t>
            </a:r>
            <a:r>
              <a:rPr sz="1400" spc="-105" dirty="0">
                <a:solidFill>
                  <a:srgbClr val="EE4444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EE4444"/>
                </a:solidFill>
                <a:latin typeface="Arial Black"/>
                <a:cs typeface="Arial Black"/>
              </a:rPr>
              <a:t>Puanı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000"/>
              </a:lnSpc>
              <a:spcBef>
                <a:spcPts val="855"/>
              </a:spcBef>
            </a:pP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Sunumlar</a:t>
            </a:r>
            <a:r>
              <a:rPr sz="13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90" dirty="0">
                <a:solidFill>
                  <a:srgbClr val="CBD4E1"/>
                </a:solidFill>
                <a:latin typeface="Tahoma"/>
                <a:cs typeface="Tahoma"/>
              </a:rPr>
              <a:t>6</a:t>
            </a:r>
            <a:r>
              <a:rPr sz="1300" spc="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65" dirty="0">
                <a:solidFill>
                  <a:srgbClr val="CBD4E1"/>
                </a:solidFill>
                <a:latin typeface="Tahoma"/>
                <a:cs typeface="Tahoma"/>
              </a:rPr>
              <a:t>dk</a:t>
            </a:r>
            <a:r>
              <a:rPr sz="13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anlatım</a:t>
            </a:r>
            <a:r>
              <a:rPr sz="1300" spc="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6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300" spc="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75" dirty="0">
                <a:solidFill>
                  <a:srgbClr val="CBD4E1"/>
                </a:solidFill>
                <a:latin typeface="Tahoma"/>
                <a:cs typeface="Tahoma"/>
              </a:rPr>
              <a:t>2</a:t>
            </a:r>
            <a:r>
              <a:rPr sz="13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CBD4E1"/>
                </a:solidFill>
                <a:latin typeface="Tahoma"/>
                <a:cs typeface="Tahoma"/>
              </a:rPr>
              <a:t>dk </a:t>
            </a:r>
            <a:r>
              <a:rPr sz="1300" spc="50" dirty="0">
                <a:solidFill>
                  <a:srgbClr val="CBD4E1"/>
                </a:solidFill>
                <a:latin typeface="Tahoma"/>
                <a:cs typeface="Tahoma"/>
              </a:rPr>
              <a:t>soru-</a:t>
            </a:r>
            <a:r>
              <a:rPr sz="1300" spc="75" dirty="0">
                <a:solidFill>
                  <a:srgbClr val="CBD4E1"/>
                </a:solidFill>
                <a:latin typeface="Tahoma"/>
                <a:cs typeface="Tahoma"/>
              </a:rPr>
              <a:t>cevap</a:t>
            </a:r>
            <a:r>
              <a:rPr sz="1300" spc="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ile</a:t>
            </a:r>
            <a:r>
              <a:rPr sz="1300" spc="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sınırlıdır.</a:t>
            </a:r>
            <a:r>
              <a:rPr sz="1300" spc="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90" dirty="0">
                <a:solidFill>
                  <a:srgbClr val="CBD4E1"/>
                </a:solidFill>
                <a:latin typeface="Tahoma"/>
                <a:cs typeface="Tahoma"/>
              </a:rPr>
              <a:t>6</a:t>
            </a:r>
            <a:r>
              <a:rPr sz="1300" spc="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dakikayı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aşan</a:t>
            </a:r>
            <a:r>
              <a:rPr sz="13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CBD4E1"/>
                </a:solidFill>
                <a:latin typeface="Tahoma"/>
                <a:cs typeface="Tahoma"/>
              </a:rPr>
              <a:t>her</a:t>
            </a:r>
            <a:r>
              <a:rPr sz="1300" spc="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00" b="1" spc="-210" dirty="0">
                <a:solidFill>
                  <a:srgbClr val="EE4444"/>
                </a:solidFill>
                <a:latin typeface="Tahoma"/>
                <a:cs typeface="Tahoma"/>
              </a:rPr>
              <a:t>1O</a:t>
            </a:r>
            <a:r>
              <a:rPr sz="1300" b="1" spc="-10" dirty="0">
                <a:solidFill>
                  <a:srgbClr val="EE4444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EE4444"/>
                </a:solidFill>
                <a:latin typeface="Tahoma"/>
                <a:cs typeface="Tahoma"/>
              </a:rPr>
              <a:t>saniys</a:t>
            </a:r>
            <a:r>
              <a:rPr sz="1300" b="1" spc="-15" dirty="0">
                <a:solidFill>
                  <a:srgbClr val="EE4444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EE4444"/>
                </a:solidFill>
                <a:latin typeface="Tahoma"/>
                <a:cs typeface="Tahoma"/>
              </a:rPr>
              <a:t>için</a:t>
            </a:r>
            <a:r>
              <a:rPr sz="1300" b="1" spc="-15" dirty="0">
                <a:solidFill>
                  <a:srgbClr val="EE4444"/>
                </a:solidFill>
                <a:latin typeface="Tahoma"/>
                <a:cs typeface="Tahoma"/>
              </a:rPr>
              <a:t> </a:t>
            </a:r>
            <a:r>
              <a:rPr sz="1300" b="1" spc="-95" dirty="0">
                <a:solidFill>
                  <a:srgbClr val="EE4444"/>
                </a:solidFill>
                <a:latin typeface="Tahoma"/>
                <a:cs typeface="Tahoma"/>
              </a:rPr>
              <a:t>-</a:t>
            </a:r>
            <a:r>
              <a:rPr sz="1300" b="1" spc="-140" dirty="0">
                <a:solidFill>
                  <a:srgbClr val="EE4444"/>
                </a:solidFill>
                <a:latin typeface="Tahoma"/>
                <a:cs typeface="Tahoma"/>
              </a:rPr>
              <a:t>1O</a:t>
            </a:r>
            <a:r>
              <a:rPr sz="1300" b="1" spc="-15" dirty="0">
                <a:solidFill>
                  <a:srgbClr val="EE4444"/>
                </a:solidFill>
                <a:latin typeface="Tahoma"/>
                <a:cs typeface="Tahoma"/>
              </a:rPr>
              <a:t> </a:t>
            </a:r>
            <a:r>
              <a:rPr sz="1300" b="1" spc="-20" dirty="0">
                <a:solidFill>
                  <a:srgbClr val="EE4444"/>
                </a:solidFill>
                <a:latin typeface="Tahoma"/>
                <a:cs typeface="Tahoma"/>
              </a:rPr>
              <a:t>Puan </a:t>
            </a:r>
            <a:r>
              <a:rPr sz="1300" spc="-10" dirty="0">
                <a:solidFill>
                  <a:srgbClr val="CBD4E1"/>
                </a:solidFill>
                <a:latin typeface="Tahoma"/>
                <a:cs typeface="Tahoma"/>
              </a:rPr>
              <a:t>düşülecektir!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489894"/>
            <a:ext cx="5286374" cy="29926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4125" y="2489894"/>
            <a:ext cx="5286374" cy="29926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025" y="4162425"/>
            <a:ext cx="4505324" cy="7733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11950" y="2857051"/>
            <a:ext cx="4507865" cy="176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14" dirty="0">
                <a:solidFill>
                  <a:srgbClr val="37BDF7"/>
                </a:solidFill>
                <a:latin typeface="Arial Black"/>
                <a:cs typeface="Arial Black"/>
              </a:rPr>
              <a:t>Sistem </a:t>
            </a:r>
            <a:r>
              <a:rPr sz="2100" spc="-85" dirty="0">
                <a:solidFill>
                  <a:srgbClr val="37BDF7"/>
                </a:solidFill>
                <a:latin typeface="Arial Black"/>
                <a:cs typeface="Arial Black"/>
              </a:rPr>
              <a:t>Tasarımı</a:t>
            </a:r>
            <a:r>
              <a:rPr sz="2100" spc="-114" dirty="0">
                <a:solidFill>
                  <a:srgbClr val="37BDF7"/>
                </a:solidFill>
                <a:latin typeface="Arial Black"/>
                <a:cs typeface="Arial Black"/>
              </a:rPr>
              <a:t> </a:t>
            </a:r>
            <a:r>
              <a:rPr sz="2100" dirty="0">
                <a:solidFill>
                  <a:srgbClr val="94A3B8"/>
                </a:solidFill>
                <a:latin typeface="Arial Black"/>
                <a:cs typeface="Arial Black"/>
              </a:rPr>
              <a:t>(40</a:t>
            </a:r>
            <a:r>
              <a:rPr sz="2100" spc="-110" dirty="0">
                <a:solidFill>
                  <a:srgbClr val="94A3B8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94A3B8"/>
                </a:solidFill>
                <a:latin typeface="Arial Black"/>
                <a:cs typeface="Arial Black"/>
              </a:rPr>
              <a:t>Puan)</a:t>
            </a:r>
            <a:endParaRPr sz="21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10"/>
              </a:spcBef>
            </a:pP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Yazılım</a:t>
            </a:r>
            <a:r>
              <a:rPr sz="1350" spc="20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mimarinizin</a:t>
            </a:r>
            <a:r>
              <a:rPr sz="1350" spc="2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sağlamlığı</a:t>
            </a:r>
            <a:r>
              <a:rPr sz="1350" spc="2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Tahoma"/>
                <a:cs typeface="Tahoma"/>
              </a:rPr>
              <a:t>değerlendirilecek. </a:t>
            </a: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Frontend,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BD4E1"/>
                </a:solidFill>
                <a:latin typeface="Tahoma"/>
                <a:cs typeface="Tahoma"/>
              </a:rPr>
              <a:t>backend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veritabanı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arasındaki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iletişimin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30" dirty="0">
                <a:solidFill>
                  <a:srgbClr val="CBD4E1"/>
                </a:solidFill>
                <a:latin typeface="Tahoma"/>
                <a:cs typeface="Tahoma"/>
              </a:rPr>
              <a:t>ne </a:t>
            </a: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kadar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temiz,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sürdürülebilir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BD4E1"/>
                </a:solidFill>
                <a:latin typeface="Tahoma"/>
                <a:cs typeface="Tahoma"/>
              </a:rPr>
              <a:t>mantıklı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Tahoma"/>
                <a:cs typeface="Tahoma"/>
              </a:rPr>
              <a:t>kurulduğuna </a:t>
            </a:r>
            <a:r>
              <a:rPr sz="1350" spc="50" dirty="0">
                <a:solidFill>
                  <a:srgbClr val="CBD4E1"/>
                </a:solidFill>
                <a:latin typeface="Tahoma"/>
                <a:cs typeface="Tahoma"/>
              </a:rPr>
              <a:t>detaylıca</a:t>
            </a:r>
            <a:r>
              <a:rPr sz="135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Tahoma"/>
                <a:cs typeface="Tahoma"/>
              </a:rPr>
              <a:t>bakılacak.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9325" y="2857051"/>
            <a:ext cx="4490720" cy="193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5" dirty="0">
                <a:solidFill>
                  <a:srgbClr val="37BDF7"/>
                </a:solidFill>
                <a:latin typeface="Arial Black"/>
                <a:cs typeface="Arial Black"/>
              </a:rPr>
              <a:t>Canlı</a:t>
            </a:r>
            <a:r>
              <a:rPr sz="2100" spc="-135" dirty="0">
                <a:solidFill>
                  <a:srgbClr val="37BDF7"/>
                </a:solidFill>
                <a:latin typeface="Arial Black"/>
                <a:cs typeface="Arial Black"/>
              </a:rPr>
              <a:t> </a:t>
            </a:r>
            <a:r>
              <a:rPr sz="2100" spc="-55" dirty="0">
                <a:solidFill>
                  <a:srgbClr val="37BDF7"/>
                </a:solidFill>
                <a:latin typeface="Arial Black"/>
                <a:cs typeface="Arial Black"/>
              </a:rPr>
              <a:t>Demo</a:t>
            </a:r>
            <a:r>
              <a:rPr sz="2100" spc="-140" dirty="0">
                <a:solidFill>
                  <a:srgbClr val="37BDF7"/>
                </a:solidFill>
                <a:latin typeface="Arial Black"/>
                <a:cs typeface="Arial Black"/>
              </a:rPr>
              <a:t> </a:t>
            </a:r>
            <a:r>
              <a:rPr sz="2100" dirty="0">
                <a:solidFill>
                  <a:srgbClr val="94A3B8"/>
                </a:solidFill>
                <a:latin typeface="Arial Black"/>
                <a:cs typeface="Arial Black"/>
              </a:rPr>
              <a:t>(40</a:t>
            </a:r>
            <a:r>
              <a:rPr sz="2100" spc="-135" dirty="0">
                <a:solidFill>
                  <a:srgbClr val="94A3B8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94A3B8"/>
                </a:solidFill>
                <a:latin typeface="Arial Black"/>
                <a:cs typeface="Arial Black"/>
              </a:rPr>
              <a:t>Puan)</a:t>
            </a:r>
            <a:endParaRPr sz="21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10"/>
              </a:spcBef>
            </a:pP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Ekranda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çalışan,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hata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BD4E1"/>
                </a:solidFill>
                <a:latin typeface="Tahoma"/>
                <a:cs typeface="Tahoma"/>
              </a:rPr>
              <a:t>vermeyen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jüriye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elle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tutulur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CBD4E1"/>
                </a:solidFill>
                <a:latin typeface="Tahoma"/>
                <a:cs typeface="Tahoma"/>
              </a:rPr>
              <a:t>bir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çıktı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BD4E1"/>
                </a:solidFill>
                <a:latin typeface="Tahoma"/>
                <a:cs typeface="Tahoma"/>
              </a:rPr>
              <a:t>sunan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sistemler</a:t>
            </a:r>
            <a:r>
              <a:rPr sz="135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BD4E1"/>
                </a:solidFill>
                <a:latin typeface="Tahoma"/>
                <a:cs typeface="Tahoma"/>
              </a:rPr>
              <a:t>bu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puanı</a:t>
            </a:r>
            <a:r>
              <a:rPr sz="1350" spc="114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Tahoma"/>
                <a:cs typeface="Tahoma"/>
              </a:rPr>
              <a:t>alacaktır.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350">
              <a:latin typeface="Tahoma"/>
              <a:cs typeface="Tahoma"/>
            </a:endParaRPr>
          </a:p>
          <a:p>
            <a:pPr marL="193675" marR="501015">
              <a:lnSpc>
                <a:spcPct val="160000"/>
              </a:lnSpc>
            </a:pPr>
            <a:r>
              <a:rPr sz="1200" spc="60" dirty="0">
                <a:solidFill>
                  <a:srgbClr val="F7FAFC"/>
                </a:solidFill>
                <a:latin typeface="Tahoma"/>
                <a:cs typeface="Tahoma"/>
              </a:rPr>
              <a:t>Kod</a:t>
            </a:r>
            <a:r>
              <a:rPr sz="1200" spc="50" dirty="0">
                <a:solidFill>
                  <a:srgbClr val="F7FAFC"/>
                </a:solidFill>
                <a:latin typeface="Tahoma"/>
                <a:cs typeface="Tahoma"/>
              </a:rPr>
              <a:t> çalışmıyorsa </a:t>
            </a:r>
            <a:r>
              <a:rPr sz="1200" spc="20" dirty="0">
                <a:solidFill>
                  <a:srgbClr val="F7FAFC"/>
                </a:solidFill>
                <a:latin typeface="Tahoma"/>
                <a:cs typeface="Tahoma"/>
              </a:rPr>
              <a:t>veya</a:t>
            </a:r>
            <a:r>
              <a:rPr sz="1200" spc="5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1200" spc="75" dirty="0">
                <a:solidFill>
                  <a:srgbClr val="F7FAFC"/>
                </a:solidFill>
                <a:latin typeface="Tahoma"/>
                <a:cs typeface="Tahoma"/>
              </a:rPr>
              <a:t>sadece</a:t>
            </a:r>
            <a:r>
              <a:rPr sz="1200" spc="5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F7FAFC"/>
                </a:solidFill>
                <a:latin typeface="Tahoma"/>
                <a:cs typeface="Tahoma"/>
              </a:rPr>
              <a:t>slayt</a:t>
            </a:r>
            <a:r>
              <a:rPr sz="1200" spc="5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F7FAFC"/>
                </a:solidFill>
                <a:latin typeface="Tahoma"/>
                <a:cs typeface="Tahoma"/>
              </a:rPr>
              <a:t>gösteriliyorsa</a:t>
            </a:r>
            <a:r>
              <a:rPr sz="1200" spc="5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7FAFC"/>
                </a:solidFill>
                <a:latin typeface="Tahoma"/>
                <a:cs typeface="Tahoma"/>
              </a:rPr>
              <a:t>bu </a:t>
            </a:r>
            <a:r>
              <a:rPr sz="1200" spc="10" dirty="0">
                <a:solidFill>
                  <a:srgbClr val="F7FAFC"/>
                </a:solidFill>
                <a:latin typeface="Tahoma"/>
                <a:cs typeface="Tahoma"/>
              </a:rPr>
              <a:t>puan</a:t>
            </a:r>
            <a:r>
              <a:rPr sz="1200" spc="16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7FAFC"/>
                </a:solidFill>
                <a:latin typeface="Tahoma"/>
                <a:cs typeface="Tahoma"/>
              </a:rPr>
              <a:t>doğrudan</a:t>
            </a:r>
            <a:r>
              <a:rPr sz="1200" spc="17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7FAFC"/>
                </a:solidFill>
                <a:latin typeface="Tahoma"/>
                <a:cs typeface="Tahoma"/>
              </a:rPr>
              <a:t>silinecek.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26213" y="4806255"/>
            <a:ext cx="285749" cy="2857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15238" y="4806255"/>
            <a:ext cx="361949" cy="2857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80464" y="4806255"/>
            <a:ext cx="247649" cy="28574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517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3.</a:t>
            </a:r>
            <a:r>
              <a:rPr spc="-240" dirty="0"/>
              <a:t> </a:t>
            </a:r>
            <a:r>
              <a:rPr spc="-135" dirty="0"/>
              <a:t>Mühendislik</a:t>
            </a:r>
            <a:r>
              <a:rPr spc="-240" dirty="0"/>
              <a:t> </a:t>
            </a:r>
            <a:r>
              <a:rPr spc="-105" dirty="0"/>
              <a:t>ve</a:t>
            </a:r>
            <a:r>
              <a:rPr spc="-235" dirty="0"/>
              <a:t> </a:t>
            </a:r>
            <a:r>
              <a:rPr spc="-80" dirty="0"/>
              <a:t>Demo</a:t>
            </a:r>
            <a:r>
              <a:rPr spc="-240" dirty="0"/>
              <a:t> </a:t>
            </a:r>
            <a:r>
              <a:rPr sz="2400" dirty="0">
                <a:solidFill>
                  <a:srgbClr val="94A3B8"/>
                </a:solidFill>
              </a:rPr>
              <a:t>(80</a:t>
            </a:r>
            <a:r>
              <a:rPr sz="2400" spc="-190" dirty="0">
                <a:solidFill>
                  <a:srgbClr val="94A3B8"/>
                </a:solidFill>
              </a:rPr>
              <a:t> </a:t>
            </a:r>
            <a:r>
              <a:rPr sz="2400" spc="-10" dirty="0">
                <a:solidFill>
                  <a:srgbClr val="94A3B8"/>
                </a:solidFill>
              </a:rPr>
              <a:t>Puan)</a:t>
            </a:r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571500" y="1285875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737" y="1709737"/>
            <a:ext cx="3438525" cy="4010025"/>
            <a:chOff x="566737" y="1709737"/>
            <a:chExt cx="3438525" cy="4010025"/>
          </a:xfrm>
        </p:grpSpPr>
        <p:sp>
          <p:nvSpPr>
            <p:cNvPr id="3" name="object 3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45739" y="2410883"/>
            <a:ext cx="2080895" cy="2146935"/>
          </a:xfrm>
          <a:prstGeom prst="rect">
            <a:avLst/>
          </a:prstGeom>
        </p:spPr>
        <p:txBody>
          <a:bodyPr vert="horz" wrap="square" lIns="0" tIns="42481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3345"/>
              </a:spcBef>
            </a:pPr>
            <a:r>
              <a:rPr sz="8000" b="1" spc="60" dirty="0">
                <a:solidFill>
                  <a:srgbClr val="37BDF7"/>
                </a:solidFill>
                <a:latin typeface="Arial"/>
                <a:cs typeface="Arial"/>
              </a:rPr>
              <a:t>140</a:t>
            </a:r>
            <a:endParaRPr sz="8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400" spc="-70" dirty="0">
                <a:solidFill>
                  <a:srgbClr val="F7FAFC"/>
                </a:solidFill>
                <a:latin typeface="Arial Black"/>
                <a:cs typeface="Arial Black"/>
              </a:rPr>
              <a:t>Toplam</a:t>
            </a:r>
            <a:r>
              <a:rPr sz="2400" spc="-20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400" spc="-65" dirty="0">
                <a:solidFill>
                  <a:srgbClr val="F7FAFC"/>
                </a:solidFill>
                <a:latin typeface="Arial Black"/>
                <a:cs typeface="Arial Black"/>
              </a:rPr>
              <a:t>Puan</a:t>
            </a:r>
            <a:endParaRPr sz="240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76737" y="1709737"/>
            <a:ext cx="7248525" cy="4010025"/>
            <a:chOff x="4376737" y="1709737"/>
            <a:chExt cx="7248525" cy="4010025"/>
          </a:xfrm>
        </p:grpSpPr>
        <p:sp>
          <p:nvSpPr>
            <p:cNvPr id="7" name="object 7"/>
            <p:cNvSpPr/>
            <p:nvPr/>
          </p:nvSpPr>
          <p:spPr>
            <a:xfrm>
              <a:off x="4381500" y="1714500"/>
              <a:ext cx="7239000" cy="4000500"/>
            </a:xfrm>
            <a:custGeom>
              <a:avLst/>
              <a:gdLst/>
              <a:ahLst/>
              <a:cxnLst/>
              <a:rect l="l" t="t" r="r" b="b"/>
              <a:pathLst>
                <a:path w="7239000" h="4000500">
                  <a:moveTo>
                    <a:pt x="7086620" y="4000499"/>
                  </a:moveTo>
                  <a:lnTo>
                    <a:pt x="152378" y="4000499"/>
                  </a:lnTo>
                  <a:lnTo>
                    <a:pt x="104215" y="3992731"/>
                  </a:lnTo>
                  <a:lnTo>
                    <a:pt x="62385" y="3971099"/>
                  </a:lnTo>
                  <a:lnTo>
                    <a:pt x="29400" y="3938114"/>
                  </a:lnTo>
                  <a:lnTo>
                    <a:pt x="7768" y="3896284"/>
                  </a:lnTo>
                  <a:lnTo>
                    <a:pt x="0" y="3848120"/>
                  </a:lnTo>
                  <a:lnTo>
                    <a:pt x="0" y="152379"/>
                  </a:lnTo>
                  <a:lnTo>
                    <a:pt x="7768" y="104215"/>
                  </a:lnTo>
                  <a:lnTo>
                    <a:pt x="29400" y="62386"/>
                  </a:lnTo>
                  <a:lnTo>
                    <a:pt x="62385" y="29400"/>
                  </a:lnTo>
                  <a:lnTo>
                    <a:pt x="104215" y="7768"/>
                  </a:lnTo>
                  <a:lnTo>
                    <a:pt x="152378" y="0"/>
                  </a:lnTo>
                  <a:lnTo>
                    <a:pt x="7086620" y="0"/>
                  </a:lnTo>
                  <a:lnTo>
                    <a:pt x="7144934" y="11599"/>
                  </a:lnTo>
                  <a:lnTo>
                    <a:pt x="7194369" y="44630"/>
                  </a:lnTo>
                  <a:lnTo>
                    <a:pt x="7227400" y="94066"/>
                  </a:lnTo>
                  <a:lnTo>
                    <a:pt x="7238999" y="152379"/>
                  </a:lnTo>
                  <a:lnTo>
                    <a:pt x="7238999" y="3848120"/>
                  </a:lnTo>
                  <a:lnTo>
                    <a:pt x="7231231" y="3896284"/>
                  </a:lnTo>
                  <a:lnTo>
                    <a:pt x="7209599" y="3938114"/>
                  </a:lnTo>
                  <a:lnTo>
                    <a:pt x="7176613" y="3971099"/>
                  </a:lnTo>
                  <a:lnTo>
                    <a:pt x="7134784" y="3992731"/>
                  </a:lnTo>
                  <a:lnTo>
                    <a:pt x="7086620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81500" y="1714500"/>
              <a:ext cx="7239000" cy="4000500"/>
            </a:xfrm>
            <a:custGeom>
              <a:avLst/>
              <a:gdLst/>
              <a:ahLst/>
              <a:cxnLst/>
              <a:rect l="l" t="t" r="r" b="b"/>
              <a:pathLst>
                <a:path w="7239000" h="4000500">
                  <a:moveTo>
                    <a:pt x="0" y="152379"/>
                  </a:moveTo>
                  <a:lnTo>
                    <a:pt x="7768" y="104215"/>
                  </a:lnTo>
                  <a:lnTo>
                    <a:pt x="29400" y="62386"/>
                  </a:lnTo>
                  <a:lnTo>
                    <a:pt x="62385" y="29400"/>
                  </a:lnTo>
                  <a:lnTo>
                    <a:pt x="104215" y="7768"/>
                  </a:lnTo>
                  <a:lnTo>
                    <a:pt x="152378" y="0"/>
                  </a:lnTo>
                  <a:lnTo>
                    <a:pt x="7086620" y="0"/>
                  </a:lnTo>
                  <a:lnTo>
                    <a:pt x="7144934" y="11599"/>
                  </a:lnTo>
                  <a:lnTo>
                    <a:pt x="7194369" y="44630"/>
                  </a:lnTo>
                  <a:lnTo>
                    <a:pt x="7227400" y="94066"/>
                  </a:lnTo>
                  <a:lnTo>
                    <a:pt x="7238999" y="152379"/>
                  </a:lnTo>
                  <a:lnTo>
                    <a:pt x="7238999" y="3848120"/>
                  </a:lnTo>
                  <a:lnTo>
                    <a:pt x="7231231" y="3896284"/>
                  </a:lnTo>
                  <a:lnTo>
                    <a:pt x="7209599" y="3938114"/>
                  </a:lnTo>
                  <a:lnTo>
                    <a:pt x="7176613" y="3971099"/>
                  </a:lnTo>
                  <a:lnTo>
                    <a:pt x="7134784" y="3992731"/>
                  </a:lnTo>
                  <a:lnTo>
                    <a:pt x="7086620" y="4000499"/>
                  </a:lnTo>
                  <a:lnTo>
                    <a:pt x="152378" y="4000499"/>
                  </a:lnTo>
                  <a:lnTo>
                    <a:pt x="104215" y="3992731"/>
                  </a:lnTo>
                  <a:lnTo>
                    <a:pt x="62385" y="3971099"/>
                  </a:lnTo>
                  <a:lnTo>
                    <a:pt x="29400" y="3938114"/>
                  </a:lnTo>
                  <a:lnTo>
                    <a:pt x="7768" y="3896284"/>
                  </a:lnTo>
                  <a:lnTo>
                    <a:pt x="0" y="3848120"/>
                  </a:lnTo>
                  <a:lnTo>
                    <a:pt x="0" y="152379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49800" y="2408745"/>
            <a:ext cx="6298565" cy="100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4" dirty="0">
                <a:solidFill>
                  <a:srgbClr val="F7FAFC"/>
                </a:solidFill>
                <a:latin typeface="Arial Black"/>
                <a:cs typeface="Arial Black"/>
              </a:rPr>
              <a:t>Sponsor</a:t>
            </a:r>
            <a:r>
              <a:rPr sz="2400" spc="-20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400" spc="-250" dirty="0">
                <a:solidFill>
                  <a:srgbClr val="F7FAFC"/>
                </a:solidFill>
                <a:latin typeface="Arial Black"/>
                <a:cs typeface="Arial Black"/>
              </a:rPr>
              <a:t>API</a:t>
            </a:r>
            <a:r>
              <a:rPr sz="2400" spc="-195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400" spc="-85" dirty="0">
                <a:solidFill>
                  <a:srgbClr val="F7FAFC"/>
                </a:solidFill>
                <a:latin typeface="Arial Black"/>
                <a:cs typeface="Arial Black"/>
              </a:rPr>
              <a:t>ve</a:t>
            </a:r>
            <a:r>
              <a:rPr sz="2400" spc="-20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F7FAFC"/>
                </a:solidFill>
                <a:latin typeface="Arial Black"/>
                <a:cs typeface="Arial Black"/>
              </a:rPr>
              <a:t>Servisleri</a:t>
            </a:r>
            <a:endParaRPr sz="2400">
              <a:latin typeface="Arial Black"/>
              <a:cs typeface="Arial Black"/>
            </a:endParaRPr>
          </a:p>
          <a:p>
            <a:pPr marL="12700" marR="5080">
              <a:lnSpc>
                <a:spcPts val="1650"/>
              </a:lnSpc>
              <a:spcBef>
                <a:spcPts val="1590"/>
              </a:spcBef>
            </a:pPr>
            <a:r>
              <a:rPr sz="1400" spc="60" dirty="0">
                <a:solidFill>
                  <a:srgbClr val="CBD4E1"/>
                </a:solidFill>
                <a:latin typeface="Tahoma"/>
                <a:cs typeface="Tahoma"/>
              </a:rPr>
              <a:t>Bu</a:t>
            </a:r>
            <a:r>
              <a:rPr sz="1400" spc="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CBD4E1"/>
                </a:solidFill>
                <a:latin typeface="Tahoma"/>
                <a:cs typeface="Tahoma"/>
              </a:rPr>
              <a:t>başlıkların</a:t>
            </a:r>
            <a:r>
              <a:rPr sz="1400" spc="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CBD4E1"/>
                </a:solidFill>
                <a:latin typeface="Tahoma"/>
                <a:cs typeface="Tahoma"/>
              </a:rPr>
              <a:t>alt</a:t>
            </a:r>
            <a:r>
              <a:rPr sz="1400" spc="8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CBD4E1"/>
                </a:solidFill>
                <a:latin typeface="Tahoma"/>
                <a:cs typeface="Tahoma"/>
              </a:rPr>
              <a:t>kriterleri</a:t>
            </a:r>
            <a:r>
              <a:rPr sz="1400" spc="8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400" spc="8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CBD4E1"/>
                </a:solidFill>
                <a:latin typeface="Tahoma"/>
                <a:cs typeface="Tahoma"/>
              </a:rPr>
              <a:t>spesifik</a:t>
            </a:r>
            <a:r>
              <a:rPr sz="1400" spc="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CBD4E1"/>
                </a:solidFill>
                <a:latin typeface="Tahoma"/>
                <a:cs typeface="Tahoma"/>
              </a:rPr>
              <a:t>detayları</a:t>
            </a:r>
            <a:r>
              <a:rPr sz="1400" spc="8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CBD4E1"/>
                </a:solidFill>
                <a:latin typeface="Tahoma"/>
                <a:cs typeface="Tahoma"/>
              </a:rPr>
              <a:t>tamamen</a:t>
            </a:r>
            <a:r>
              <a:rPr sz="1400" spc="70" dirty="0">
                <a:solidFill>
                  <a:srgbClr val="CBD4E1"/>
                </a:solidFill>
                <a:latin typeface="Tahoma"/>
                <a:cs typeface="Tahoma"/>
              </a:rPr>
              <a:t> sponsor</a:t>
            </a:r>
            <a:r>
              <a:rPr sz="1400" spc="8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CBD4E1"/>
                </a:solidFill>
                <a:latin typeface="Tahoma"/>
                <a:cs typeface="Tahoma"/>
              </a:rPr>
              <a:t>şirketlerin </a:t>
            </a:r>
            <a:r>
              <a:rPr sz="1400" dirty="0">
                <a:solidFill>
                  <a:srgbClr val="CBD4E1"/>
                </a:solidFill>
                <a:latin typeface="Tahoma"/>
                <a:cs typeface="Tahoma"/>
              </a:rPr>
              <a:t>kendi</a:t>
            </a:r>
            <a:r>
              <a:rPr sz="1400" spc="229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BD4E1"/>
                </a:solidFill>
                <a:latin typeface="Tahoma"/>
                <a:cs typeface="Tahoma"/>
              </a:rPr>
              <a:t>jüri</a:t>
            </a:r>
            <a:r>
              <a:rPr sz="1400" spc="229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BD4E1"/>
                </a:solidFill>
                <a:latin typeface="Tahoma"/>
                <a:cs typeface="Tahoma"/>
              </a:rPr>
              <a:t>üyeleri</a:t>
            </a:r>
            <a:r>
              <a:rPr sz="1400" spc="229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BD4E1"/>
                </a:solidFill>
                <a:latin typeface="Tahoma"/>
                <a:cs typeface="Tahoma"/>
              </a:rPr>
              <a:t>tarafından</a:t>
            </a:r>
            <a:r>
              <a:rPr sz="1400" spc="2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CBD4E1"/>
                </a:solidFill>
                <a:latin typeface="Tahoma"/>
                <a:cs typeface="Tahoma"/>
              </a:rPr>
              <a:t>değerlendirilecektir.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81550" y="3700843"/>
            <a:ext cx="190500" cy="657225"/>
            <a:chOff x="4781550" y="3700843"/>
            <a:chExt cx="190500" cy="6572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1550" y="3700843"/>
              <a:ext cx="190500" cy="190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1550" y="4167568"/>
              <a:ext cx="190500" cy="1905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978400" y="3669093"/>
            <a:ext cx="445643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7FAFC"/>
                </a:solidFill>
                <a:latin typeface="Tahoma"/>
                <a:cs typeface="Tahoma"/>
              </a:rPr>
              <a:t>80</a:t>
            </a:r>
            <a:r>
              <a:rPr sz="1800" b="1" spc="-6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F7FAFC"/>
                </a:solidFill>
                <a:latin typeface="Tahoma"/>
                <a:cs typeface="Tahoma"/>
              </a:rPr>
              <a:t>Puan </a:t>
            </a:r>
            <a:r>
              <a:rPr sz="1800" spc="175" dirty="0">
                <a:solidFill>
                  <a:srgbClr val="CBD4E1"/>
                </a:solidFill>
                <a:latin typeface="Tahoma"/>
                <a:cs typeface="Tahoma"/>
              </a:rPr>
              <a:t>-</a:t>
            </a:r>
            <a:r>
              <a:rPr sz="180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CBD4E1"/>
                </a:solidFill>
                <a:latin typeface="Tahoma"/>
                <a:cs typeface="Tahoma"/>
              </a:rPr>
              <a:t>Puq.ai</a:t>
            </a:r>
            <a:r>
              <a:rPr sz="1800" spc="49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CBD4E1"/>
                </a:solidFill>
                <a:latin typeface="Tahoma"/>
                <a:cs typeface="Tahoma"/>
              </a:rPr>
              <a:t>→</a:t>
            </a:r>
            <a:r>
              <a:rPr sz="18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200" b="1" i="1" spc="-195" dirty="0">
                <a:solidFill>
                  <a:srgbClr val="EE4444"/>
                </a:solidFill>
                <a:latin typeface="Verdana"/>
                <a:cs typeface="Verdana"/>
              </a:rPr>
              <a:t>*</a:t>
            </a:r>
            <a:r>
              <a:rPr sz="1200" b="1" i="1" spc="-114" dirty="0">
                <a:solidFill>
                  <a:srgbClr val="EE4444"/>
                </a:solidFill>
                <a:latin typeface="Verdana"/>
                <a:cs typeface="Verdana"/>
              </a:rPr>
              <a:t> </a:t>
            </a:r>
            <a:r>
              <a:rPr sz="1200" b="1" i="1" spc="-90" dirty="0">
                <a:solidFill>
                  <a:srgbClr val="EE4444"/>
                </a:solidFill>
                <a:latin typeface="Verdana"/>
                <a:cs typeface="Verdana"/>
              </a:rPr>
              <a:t>Puq.ai</a:t>
            </a:r>
            <a:r>
              <a:rPr sz="1200" b="1" i="1" spc="-120" dirty="0">
                <a:solidFill>
                  <a:srgbClr val="EE4444"/>
                </a:solidFill>
                <a:latin typeface="Verdana"/>
                <a:cs typeface="Verdana"/>
              </a:rPr>
              <a:t> </a:t>
            </a:r>
            <a:r>
              <a:rPr sz="1200" b="1" i="1" spc="-114" dirty="0">
                <a:solidFill>
                  <a:srgbClr val="EE4444"/>
                </a:solidFill>
                <a:latin typeface="Verdana"/>
                <a:cs typeface="Verdana"/>
              </a:rPr>
              <a:t>kullanımı</a:t>
            </a:r>
            <a:r>
              <a:rPr sz="1200" b="1" i="1" spc="-120" dirty="0">
                <a:solidFill>
                  <a:srgbClr val="EE4444"/>
                </a:solidFill>
                <a:latin typeface="Verdana"/>
                <a:cs typeface="Verdana"/>
              </a:rPr>
              <a:t> </a:t>
            </a:r>
            <a:r>
              <a:rPr sz="1200" b="1" i="1" spc="-75" dirty="0">
                <a:solidFill>
                  <a:srgbClr val="EE4444"/>
                </a:solidFill>
                <a:latin typeface="Verdana"/>
                <a:cs typeface="Verdana"/>
              </a:rPr>
              <a:t>zorunludur.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7FAFC"/>
                </a:solidFill>
                <a:latin typeface="Tahoma"/>
                <a:cs typeface="Tahoma"/>
              </a:rPr>
              <a:t>60</a:t>
            </a:r>
            <a:r>
              <a:rPr sz="1800" b="1" spc="-7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F7FAFC"/>
                </a:solidFill>
                <a:latin typeface="Tahoma"/>
                <a:cs typeface="Tahoma"/>
              </a:rPr>
              <a:t>Puan</a:t>
            </a:r>
            <a:r>
              <a:rPr sz="1800" b="1" spc="-6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1800" spc="175" dirty="0">
                <a:solidFill>
                  <a:srgbClr val="CBD4E1"/>
                </a:solidFill>
                <a:latin typeface="Tahoma"/>
                <a:cs typeface="Tahoma"/>
              </a:rPr>
              <a:t>-</a:t>
            </a:r>
            <a:r>
              <a:rPr sz="1800" spc="-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CBD4E1"/>
                </a:solidFill>
                <a:latin typeface="Tahoma"/>
                <a:cs typeface="Tahoma"/>
              </a:rPr>
              <a:t>Diginova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  <a:tabLst>
                <a:tab pos="11116945" algn="l"/>
              </a:tabLst>
            </a:pPr>
            <a:r>
              <a:rPr sz="3600" u="heavy" spc="-150" dirty="0">
                <a:uFill>
                  <a:solidFill>
                    <a:srgbClr val="37BDF7"/>
                  </a:solidFill>
                </a:uFill>
              </a:rPr>
              <a:t>4.</a:t>
            </a:r>
            <a:r>
              <a:rPr sz="3600" u="heavy" spc="-310" dirty="0">
                <a:uFill>
                  <a:solidFill>
                    <a:srgbClr val="37BDF7"/>
                  </a:solidFill>
                </a:uFill>
              </a:rPr>
              <a:t> </a:t>
            </a:r>
            <a:r>
              <a:rPr sz="3600" u="heavy" spc="-155" dirty="0">
                <a:uFill>
                  <a:solidFill>
                    <a:srgbClr val="37BDF7"/>
                  </a:solidFill>
                </a:uFill>
              </a:rPr>
              <a:t>Sponsor</a:t>
            </a:r>
            <a:r>
              <a:rPr sz="3600" u="heavy" spc="-310" dirty="0">
                <a:uFill>
                  <a:solidFill>
                    <a:srgbClr val="37BDF7"/>
                  </a:solidFill>
                </a:uFill>
              </a:rPr>
              <a:t> </a:t>
            </a:r>
            <a:r>
              <a:rPr sz="3600" u="heavy" spc="-10" dirty="0">
                <a:uFill>
                  <a:solidFill>
                    <a:srgbClr val="37BDF7"/>
                  </a:solidFill>
                </a:uFill>
              </a:rPr>
              <a:t>Entegrasyonu</a:t>
            </a:r>
            <a:r>
              <a:rPr sz="3600" u="heavy" dirty="0">
                <a:uFill>
                  <a:solidFill>
                    <a:srgbClr val="37BDF7"/>
                  </a:solidFill>
                </a:uFill>
              </a:rPr>
              <a:t>	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00" dirty="0">
                <a:solidFill>
                  <a:srgbClr val="F7FAFC"/>
                </a:solidFill>
              </a:rPr>
              <a:t>Hackathon</a:t>
            </a:r>
            <a:r>
              <a:rPr sz="4800" spc="-375" dirty="0">
                <a:solidFill>
                  <a:srgbClr val="F7FAFC"/>
                </a:solidFill>
              </a:rPr>
              <a:t> </a:t>
            </a:r>
            <a:r>
              <a:rPr sz="4800" spc="-145" dirty="0">
                <a:solidFill>
                  <a:srgbClr val="F7FAFC"/>
                </a:solidFill>
              </a:rPr>
              <a:t>Temaları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2412805" y="3984593"/>
            <a:ext cx="735838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3040" algn="l"/>
                <a:tab pos="3023870" algn="l"/>
                <a:tab pos="4926330" algn="l"/>
                <a:tab pos="5217795" algn="l"/>
              </a:tabLst>
            </a:pPr>
            <a:r>
              <a:rPr sz="1950" spc="-160" dirty="0">
                <a:solidFill>
                  <a:srgbClr val="37BDF7"/>
                </a:solidFill>
                <a:latin typeface="Tahoma"/>
                <a:cs typeface="Tahoma"/>
              </a:rPr>
              <a:t>1.</a:t>
            </a:r>
            <a:r>
              <a:rPr sz="1950" spc="-55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950" spc="70" dirty="0">
                <a:solidFill>
                  <a:srgbClr val="37BDF7"/>
                </a:solidFill>
                <a:latin typeface="Tahoma"/>
                <a:cs typeface="Tahoma"/>
              </a:rPr>
              <a:t>Sağlık</a:t>
            </a:r>
            <a:r>
              <a:rPr sz="1950" spc="-50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37BDF7"/>
                </a:solidFill>
                <a:latin typeface="Tahoma"/>
                <a:cs typeface="Tahoma"/>
              </a:rPr>
              <a:t>(HealthTech)</a:t>
            </a:r>
            <a:r>
              <a:rPr sz="1950" dirty="0">
                <a:solidFill>
                  <a:srgbClr val="37BDF7"/>
                </a:solidFill>
                <a:latin typeface="Tahoma"/>
                <a:cs typeface="Tahoma"/>
              </a:rPr>
              <a:t>	</a:t>
            </a:r>
            <a:r>
              <a:rPr sz="1950" spc="-50" dirty="0">
                <a:solidFill>
                  <a:srgbClr val="37BDF7"/>
                </a:solidFill>
                <a:latin typeface="Tahoma"/>
                <a:cs typeface="Tahoma"/>
              </a:rPr>
              <a:t>|</a:t>
            </a:r>
            <a:r>
              <a:rPr sz="1950" dirty="0">
                <a:solidFill>
                  <a:srgbClr val="37BDF7"/>
                </a:solidFill>
                <a:latin typeface="Tahoma"/>
                <a:cs typeface="Tahoma"/>
              </a:rPr>
              <a:t>	2.</a:t>
            </a:r>
            <a:r>
              <a:rPr sz="1950" spc="-10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950" spc="55" dirty="0">
                <a:solidFill>
                  <a:srgbClr val="37BDF7"/>
                </a:solidFill>
                <a:latin typeface="Tahoma"/>
                <a:cs typeface="Tahoma"/>
              </a:rPr>
              <a:t>Endüstri</a:t>
            </a:r>
            <a:r>
              <a:rPr sz="1950" spc="-5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950" spc="40" dirty="0">
                <a:solidFill>
                  <a:srgbClr val="37BDF7"/>
                </a:solidFill>
                <a:latin typeface="Tahoma"/>
                <a:cs typeface="Tahoma"/>
              </a:rPr>
              <a:t>4.0</a:t>
            </a:r>
            <a:r>
              <a:rPr sz="1950" dirty="0">
                <a:solidFill>
                  <a:srgbClr val="37BDF7"/>
                </a:solidFill>
                <a:latin typeface="Tahoma"/>
                <a:cs typeface="Tahoma"/>
              </a:rPr>
              <a:t>	</a:t>
            </a:r>
            <a:r>
              <a:rPr sz="1950" spc="-50" dirty="0">
                <a:solidFill>
                  <a:srgbClr val="37BDF7"/>
                </a:solidFill>
                <a:latin typeface="Tahoma"/>
                <a:cs typeface="Tahoma"/>
              </a:rPr>
              <a:t>|</a:t>
            </a:r>
            <a:r>
              <a:rPr sz="1950" dirty="0">
                <a:solidFill>
                  <a:srgbClr val="37BDF7"/>
                </a:solidFill>
                <a:latin typeface="Tahoma"/>
                <a:cs typeface="Tahoma"/>
              </a:rPr>
              <a:t>	3.</a:t>
            </a:r>
            <a:r>
              <a:rPr sz="1950" spc="85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37BDF7"/>
                </a:solidFill>
                <a:latin typeface="Tahoma"/>
                <a:cs typeface="Tahoma"/>
              </a:rPr>
              <a:t>Eğitim</a:t>
            </a:r>
            <a:r>
              <a:rPr sz="1950" spc="90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37BDF7"/>
                </a:solidFill>
                <a:latin typeface="Tahoma"/>
                <a:cs typeface="Tahoma"/>
              </a:rPr>
              <a:t>(EdTech)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2775" y="352742"/>
            <a:ext cx="11130424" cy="667169"/>
          </a:xfrm>
          <a:prstGeom prst="rect">
            <a:avLst/>
          </a:prstGeom>
        </p:spPr>
        <p:txBody>
          <a:bodyPr vert="horz" wrap="square" lIns="0" tIns="203517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1)</a:t>
            </a:r>
            <a:r>
              <a:rPr spc="-270" dirty="0"/>
              <a:t> </a:t>
            </a:r>
            <a:r>
              <a:rPr spc="-145" dirty="0"/>
              <a:t>Hasta</a:t>
            </a:r>
            <a:r>
              <a:rPr spc="-265" dirty="0"/>
              <a:t> </a:t>
            </a:r>
            <a:r>
              <a:rPr spc="-170" dirty="0" err="1"/>
              <a:t>Takip</a:t>
            </a:r>
            <a:r>
              <a:rPr spc="-265" dirty="0"/>
              <a:t> </a:t>
            </a:r>
            <a:r>
              <a:rPr spc="-175" dirty="0" err="1"/>
              <a:t>Süreci</a:t>
            </a:r>
            <a:r>
              <a:rPr lang="tr-TR" spc="-175" dirty="0" err="1"/>
              <a:t>ndeki</a:t>
            </a:r>
            <a:r>
              <a:rPr lang="tr-TR" spc="-175" dirty="0"/>
              <a:t> Sorunlar</a:t>
            </a:r>
            <a:r>
              <a:rPr spc="-270" dirty="0"/>
              <a:t> </a:t>
            </a:r>
            <a:r>
              <a:rPr spc="80" dirty="0">
                <a:solidFill>
                  <a:srgbClr val="CC0000"/>
                </a:solidFill>
              </a:rPr>
              <a:t>|</a:t>
            </a:r>
            <a:r>
              <a:rPr spc="-265" dirty="0">
                <a:solidFill>
                  <a:srgbClr val="CC0000"/>
                </a:solidFill>
              </a:rPr>
              <a:t> </a:t>
            </a:r>
            <a:r>
              <a:rPr spc="-145" dirty="0">
                <a:solidFill>
                  <a:srgbClr val="FFFFFF"/>
                </a:solidFill>
              </a:rPr>
              <a:t>Sağlık</a:t>
            </a:r>
            <a:r>
              <a:rPr spc="-265" dirty="0">
                <a:solidFill>
                  <a:srgbClr val="FFFFFF"/>
                </a:solidFill>
              </a:rPr>
              <a:t> </a:t>
            </a:r>
            <a:r>
              <a:rPr spc="-75" dirty="0">
                <a:solidFill>
                  <a:srgbClr val="FFFFFF"/>
                </a:solidFill>
              </a:rPr>
              <a:t>(HealthTech)</a:t>
            </a:r>
          </a:p>
        </p:txBody>
      </p:sp>
      <p:sp>
        <p:nvSpPr>
          <p:cNvPr id="4" name="object 4"/>
          <p:cNvSpPr/>
          <p:nvPr/>
        </p:nvSpPr>
        <p:spPr>
          <a:xfrm>
            <a:off x="571500" y="1285875"/>
            <a:ext cx="11049000" cy="19685"/>
          </a:xfrm>
          <a:custGeom>
            <a:avLst/>
            <a:gdLst/>
            <a:ahLst/>
            <a:cxnLst/>
            <a:rect l="l" t="t" r="r" b="b"/>
            <a:pathLst>
              <a:path w="11049000" h="19684">
                <a:moveTo>
                  <a:pt x="11048999" y="19199"/>
                </a:moveTo>
                <a:lnTo>
                  <a:pt x="0" y="191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1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66737" y="1709737"/>
            <a:ext cx="3438525" cy="4010025"/>
            <a:chOff x="566737" y="1709737"/>
            <a:chExt cx="3438525" cy="4010025"/>
          </a:xfrm>
        </p:grpSpPr>
        <p:sp>
          <p:nvSpPr>
            <p:cNvPr id="6" name="object 6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0339" y="2061438"/>
              <a:ext cx="250825" cy="2571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01746" y="2298356"/>
            <a:ext cx="2567305" cy="205422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0"/>
              </a:spcBef>
            </a:pPr>
            <a:r>
              <a:rPr sz="2000" b="1" spc="-10" dirty="0">
                <a:solidFill>
                  <a:srgbClr val="F7FAFC"/>
                </a:solidFill>
                <a:latin typeface="Tahoma"/>
                <a:cs typeface="Tahoma"/>
              </a:rPr>
              <a:t>Süreç</a:t>
            </a:r>
            <a:r>
              <a:rPr sz="2000" b="1" spc="-11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7FAFC"/>
                </a:solidFill>
                <a:latin typeface="Tahoma"/>
                <a:cs typeface="Tahoma"/>
              </a:rPr>
              <a:t>Tıkanıklıkları</a:t>
            </a:r>
            <a:endParaRPr sz="2000" dirty="0">
              <a:latin typeface="Tahoma"/>
              <a:cs typeface="Tahoma"/>
            </a:endParaRPr>
          </a:p>
          <a:p>
            <a:pPr marL="12700" marR="5080" indent="635" algn="ctr">
              <a:lnSpc>
                <a:spcPct val="101400"/>
              </a:lnSpc>
              <a:spcBef>
                <a:spcPts val="1100"/>
              </a:spcBef>
            </a:pPr>
            <a:r>
              <a:rPr sz="1850" spc="60" dirty="0">
                <a:solidFill>
                  <a:srgbClr val="CBD4E1"/>
                </a:solidFill>
                <a:latin typeface="Tahoma"/>
                <a:cs typeface="Tahoma"/>
              </a:rPr>
              <a:t>Hastanelerdeki</a:t>
            </a:r>
            <a:r>
              <a:rPr sz="185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45" dirty="0">
                <a:solidFill>
                  <a:srgbClr val="CBD4E1"/>
                </a:solidFill>
                <a:latin typeface="Tahoma"/>
                <a:cs typeface="Tahoma"/>
              </a:rPr>
              <a:t>manuel </a:t>
            </a:r>
            <a:r>
              <a:rPr sz="1850" spc="70" dirty="0">
                <a:solidFill>
                  <a:srgbClr val="CBD4E1"/>
                </a:solidFill>
                <a:latin typeface="Tahoma"/>
                <a:cs typeface="Tahoma"/>
              </a:rPr>
              <a:t>onay</a:t>
            </a:r>
            <a:r>
              <a:rPr sz="1850" spc="-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40" dirty="0">
                <a:solidFill>
                  <a:srgbClr val="CBD4E1"/>
                </a:solidFill>
                <a:latin typeface="Tahoma"/>
                <a:cs typeface="Tahoma"/>
              </a:rPr>
              <a:t>mekanizmalarının </a:t>
            </a:r>
            <a:r>
              <a:rPr sz="1850" dirty="0">
                <a:solidFill>
                  <a:srgbClr val="CBD4E1"/>
                </a:solidFill>
                <a:latin typeface="Tahoma"/>
                <a:cs typeface="Tahoma"/>
              </a:rPr>
              <a:t>hantallığı</a:t>
            </a:r>
            <a:r>
              <a:rPr sz="1850" spc="1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8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850" spc="1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65" dirty="0">
                <a:solidFill>
                  <a:srgbClr val="CBD4E1"/>
                </a:solidFill>
                <a:latin typeface="Tahoma"/>
                <a:cs typeface="Tahoma"/>
              </a:rPr>
              <a:t>servisler </a:t>
            </a:r>
            <a:r>
              <a:rPr sz="1850" spc="55" dirty="0">
                <a:solidFill>
                  <a:srgbClr val="CBD4E1"/>
                </a:solidFill>
                <a:latin typeface="Tahoma"/>
                <a:cs typeface="Tahoma"/>
              </a:rPr>
              <a:t>arası</a:t>
            </a:r>
            <a:r>
              <a:rPr sz="1850" spc="-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55" dirty="0">
                <a:solidFill>
                  <a:srgbClr val="CBD4E1"/>
                </a:solidFill>
                <a:latin typeface="Tahoma"/>
                <a:cs typeface="Tahoma"/>
              </a:rPr>
              <a:t>koordinasyon </a:t>
            </a:r>
            <a:r>
              <a:rPr sz="1850" spc="40" dirty="0">
                <a:solidFill>
                  <a:srgbClr val="CBD4E1"/>
                </a:solidFill>
                <a:latin typeface="Tahoma"/>
                <a:cs typeface="Tahoma"/>
              </a:rPr>
              <a:t>eksikliği.</a:t>
            </a:r>
            <a:endParaRPr sz="185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76737" y="1709737"/>
            <a:ext cx="3438525" cy="4010025"/>
            <a:chOff x="4376737" y="1709737"/>
            <a:chExt cx="3438525" cy="4010025"/>
          </a:xfrm>
        </p:grpSpPr>
        <p:sp>
          <p:nvSpPr>
            <p:cNvPr id="11" name="object 11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0950" y="2083060"/>
              <a:ext cx="381000" cy="1905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823901" y="2298356"/>
            <a:ext cx="2542540" cy="205422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20"/>
              </a:spcBef>
            </a:pPr>
            <a:r>
              <a:rPr sz="2000" b="1" spc="-114" dirty="0">
                <a:solidFill>
                  <a:srgbClr val="F7FAFC"/>
                </a:solidFill>
                <a:latin typeface="Tahoma"/>
                <a:cs typeface="Tahoma"/>
              </a:rPr>
              <a:t>İnsan</a:t>
            </a:r>
            <a:r>
              <a:rPr sz="2000" b="1" spc="-5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7FAFC"/>
                </a:solidFill>
                <a:latin typeface="Tahoma"/>
                <a:cs typeface="Tahoma"/>
              </a:rPr>
              <a:t>Faktörü</a:t>
            </a:r>
            <a:endParaRPr sz="2000" dirty="0">
              <a:latin typeface="Tahoma"/>
              <a:cs typeface="Tahoma"/>
            </a:endParaRPr>
          </a:p>
          <a:p>
            <a:pPr marL="12065" marR="5080" algn="ctr">
              <a:lnSpc>
                <a:spcPct val="101400"/>
              </a:lnSpc>
              <a:spcBef>
                <a:spcPts val="1100"/>
              </a:spcBef>
            </a:pPr>
            <a:r>
              <a:rPr sz="1850" spc="65" dirty="0">
                <a:solidFill>
                  <a:srgbClr val="CBD4E1"/>
                </a:solidFill>
                <a:latin typeface="Tahoma"/>
                <a:cs typeface="Tahoma"/>
              </a:rPr>
              <a:t>Karar</a:t>
            </a:r>
            <a:r>
              <a:rPr sz="1850" spc="-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70" dirty="0">
                <a:solidFill>
                  <a:srgbClr val="CBD4E1"/>
                </a:solidFill>
                <a:latin typeface="Tahoma"/>
                <a:cs typeface="Tahoma"/>
              </a:rPr>
              <a:t>verici</a:t>
            </a:r>
            <a:r>
              <a:rPr sz="1850" spc="-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60" dirty="0">
                <a:solidFill>
                  <a:srgbClr val="CBD4E1"/>
                </a:solidFill>
                <a:latin typeface="Tahoma"/>
                <a:cs typeface="Tahoma"/>
              </a:rPr>
              <a:t>personelin </a:t>
            </a:r>
            <a:r>
              <a:rPr sz="1850" spc="55" dirty="0">
                <a:solidFill>
                  <a:srgbClr val="CBD4E1"/>
                </a:solidFill>
                <a:latin typeface="Tahoma"/>
                <a:cs typeface="Tahoma"/>
              </a:rPr>
              <a:t>aşırı</a:t>
            </a:r>
            <a:r>
              <a:rPr sz="1850" spc="-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75" dirty="0">
                <a:solidFill>
                  <a:srgbClr val="CBD4E1"/>
                </a:solidFill>
                <a:latin typeface="Tahoma"/>
                <a:cs typeface="Tahoma"/>
              </a:rPr>
              <a:t>iş</a:t>
            </a:r>
            <a:r>
              <a:rPr sz="1850" spc="-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70" dirty="0">
                <a:solidFill>
                  <a:srgbClr val="CBD4E1"/>
                </a:solidFill>
                <a:latin typeface="Tahoma"/>
                <a:cs typeface="Tahoma"/>
              </a:rPr>
              <a:t>yükü</a:t>
            </a:r>
            <a:r>
              <a:rPr sz="1850" spc="-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CBD4E1"/>
                </a:solidFill>
                <a:latin typeface="Tahoma"/>
                <a:cs typeface="Tahoma"/>
              </a:rPr>
              <a:t>altında </a:t>
            </a:r>
            <a:r>
              <a:rPr sz="1850" spc="65" dirty="0">
                <a:solidFill>
                  <a:srgbClr val="CBD4E1"/>
                </a:solidFill>
                <a:latin typeface="Tahoma"/>
                <a:cs typeface="Tahoma"/>
              </a:rPr>
              <a:t>yavaşlaması</a:t>
            </a:r>
            <a:r>
              <a:rPr sz="185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8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85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35" dirty="0">
                <a:solidFill>
                  <a:srgbClr val="CBD4E1"/>
                </a:solidFill>
                <a:latin typeface="Tahoma"/>
                <a:cs typeface="Tahoma"/>
              </a:rPr>
              <a:t>buna </a:t>
            </a:r>
            <a:r>
              <a:rPr sz="1850" spc="60" dirty="0">
                <a:solidFill>
                  <a:srgbClr val="CBD4E1"/>
                </a:solidFill>
                <a:latin typeface="Tahoma"/>
                <a:cs typeface="Tahoma"/>
              </a:rPr>
              <a:t>bağlı</a:t>
            </a:r>
            <a:r>
              <a:rPr sz="1850" spc="-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65" dirty="0">
                <a:solidFill>
                  <a:srgbClr val="CBD4E1"/>
                </a:solidFill>
                <a:latin typeface="Tahoma"/>
                <a:cs typeface="Tahoma"/>
              </a:rPr>
              <a:t>oluşan</a:t>
            </a:r>
            <a:r>
              <a:rPr sz="1850" spc="-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CBD4E1"/>
                </a:solidFill>
                <a:latin typeface="Tahoma"/>
                <a:cs typeface="Tahoma"/>
              </a:rPr>
              <a:t>bürokratik </a:t>
            </a:r>
            <a:r>
              <a:rPr sz="1850" spc="45" dirty="0">
                <a:solidFill>
                  <a:srgbClr val="CBD4E1"/>
                </a:solidFill>
                <a:latin typeface="Tahoma"/>
                <a:cs typeface="Tahoma"/>
              </a:rPr>
              <a:t>darboğazlar.</a:t>
            </a:r>
            <a:endParaRPr sz="1850" dirty="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86737" y="1709737"/>
            <a:ext cx="3438525" cy="4010025"/>
            <a:chOff x="8186737" y="1709737"/>
            <a:chExt cx="3438525" cy="4010025"/>
          </a:xfrm>
        </p:grpSpPr>
        <p:sp>
          <p:nvSpPr>
            <p:cNvPr id="16" name="object 16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77164" y="2064613"/>
              <a:ext cx="257175" cy="2540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663432" y="2298356"/>
            <a:ext cx="2486025" cy="262572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0"/>
              </a:spcBef>
            </a:pPr>
            <a:r>
              <a:rPr sz="2000" b="1" spc="-50" dirty="0">
                <a:solidFill>
                  <a:srgbClr val="F7FAFC"/>
                </a:solidFill>
                <a:latin typeface="Tahoma"/>
                <a:cs typeface="Tahoma"/>
              </a:rPr>
              <a:t>Veri</a:t>
            </a:r>
            <a:r>
              <a:rPr sz="2000" b="1" spc="-7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7FAFC"/>
                </a:solidFill>
                <a:latin typeface="Tahoma"/>
                <a:cs typeface="Tahoma"/>
              </a:rPr>
              <a:t>Kopukluğu</a:t>
            </a:r>
            <a:endParaRPr sz="2000" dirty="0">
              <a:latin typeface="Tahoma"/>
              <a:cs typeface="Tahoma"/>
            </a:endParaRPr>
          </a:p>
          <a:p>
            <a:pPr marL="12065" marR="5080" indent="-2540" algn="ctr">
              <a:lnSpc>
                <a:spcPct val="101400"/>
              </a:lnSpc>
              <a:spcBef>
                <a:spcPts val="1100"/>
              </a:spcBef>
            </a:pPr>
            <a:r>
              <a:rPr sz="1850" spc="55" dirty="0">
                <a:solidFill>
                  <a:srgbClr val="CBD4E1"/>
                </a:solidFill>
                <a:latin typeface="Tahoma"/>
                <a:cs typeface="Tahoma"/>
              </a:rPr>
              <a:t>Hastanın</a:t>
            </a:r>
            <a:r>
              <a:rPr sz="1850" spc="-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CBD4E1"/>
                </a:solidFill>
                <a:latin typeface="Tahoma"/>
                <a:cs typeface="Tahoma"/>
              </a:rPr>
              <a:t>anlık </a:t>
            </a:r>
            <a:r>
              <a:rPr sz="1850" dirty="0">
                <a:solidFill>
                  <a:srgbClr val="CBD4E1"/>
                </a:solidFill>
                <a:latin typeface="Tahoma"/>
                <a:cs typeface="Tahoma"/>
              </a:rPr>
              <a:t>durumunun</a:t>
            </a:r>
            <a:r>
              <a:rPr sz="1850" spc="37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CBD4E1"/>
                </a:solidFill>
                <a:latin typeface="Tahoma"/>
                <a:cs typeface="Tahoma"/>
              </a:rPr>
              <a:t>kağıt </a:t>
            </a:r>
            <a:r>
              <a:rPr sz="1850" spc="75" dirty="0">
                <a:solidFill>
                  <a:srgbClr val="CBD4E1"/>
                </a:solidFill>
                <a:latin typeface="Tahoma"/>
                <a:cs typeface="Tahoma"/>
              </a:rPr>
              <a:t>üzerinde</a:t>
            </a:r>
            <a:r>
              <a:rPr sz="185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55" dirty="0">
                <a:solidFill>
                  <a:srgbClr val="CBD4E1"/>
                </a:solidFill>
                <a:latin typeface="Tahoma"/>
                <a:cs typeface="Tahoma"/>
              </a:rPr>
              <a:t>kalması</a:t>
            </a:r>
            <a:r>
              <a:rPr sz="185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50" dirty="0">
                <a:solidFill>
                  <a:srgbClr val="CBD4E1"/>
                </a:solidFill>
                <a:latin typeface="Tahoma"/>
                <a:cs typeface="Tahoma"/>
              </a:rPr>
              <a:t>veya </a:t>
            </a:r>
            <a:r>
              <a:rPr sz="1850" dirty="0">
                <a:solidFill>
                  <a:srgbClr val="CBD4E1"/>
                </a:solidFill>
                <a:latin typeface="Tahoma"/>
                <a:cs typeface="Tahoma"/>
              </a:rPr>
              <a:t>dijital</a:t>
            </a:r>
            <a:r>
              <a:rPr sz="1850" spc="-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70" dirty="0">
                <a:solidFill>
                  <a:srgbClr val="CBD4E1"/>
                </a:solidFill>
                <a:latin typeface="Tahoma"/>
                <a:cs typeface="Tahoma"/>
              </a:rPr>
              <a:t>sisteme</a:t>
            </a:r>
            <a:r>
              <a:rPr sz="1850" spc="-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100" dirty="0">
                <a:solidFill>
                  <a:srgbClr val="CBD4E1"/>
                </a:solidFill>
                <a:latin typeface="Tahoma"/>
                <a:cs typeface="Tahoma"/>
              </a:rPr>
              <a:t>geç </a:t>
            </a:r>
            <a:r>
              <a:rPr sz="1850" spc="70" dirty="0">
                <a:solidFill>
                  <a:srgbClr val="CBD4E1"/>
                </a:solidFill>
                <a:latin typeface="Tahoma"/>
                <a:cs typeface="Tahoma"/>
              </a:rPr>
              <a:t>işlenmesi</a:t>
            </a:r>
            <a:r>
              <a:rPr sz="1850" spc="-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60" dirty="0">
                <a:solidFill>
                  <a:srgbClr val="CBD4E1"/>
                </a:solidFill>
                <a:latin typeface="Tahoma"/>
                <a:cs typeface="Tahoma"/>
              </a:rPr>
              <a:t>nedeniyle </a:t>
            </a:r>
            <a:r>
              <a:rPr sz="1850" spc="65" dirty="0">
                <a:solidFill>
                  <a:srgbClr val="CBD4E1"/>
                </a:solidFill>
                <a:latin typeface="Tahoma"/>
                <a:cs typeface="Tahoma"/>
              </a:rPr>
              <a:t>oluşan</a:t>
            </a:r>
            <a:r>
              <a:rPr sz="1850" spc="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CBD4E1"/>
                </a:solidFill>
                <a:latin typeface="Tahoma"/>
                <a:cs typeface="Tahoma"/>
              </a:rPr>
              <a:t>hayati</a:t>
            </a:r>
            <a:r>
              <a:rPr sz="1850" spc="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850" spc="70" dirty="0">
                <a:solidFill>
                  <a:srgbClr val="CBD4E1"/>
                </a:solidFill>
                <a:latin typeface="Tahoma"/>
                <a:cs typeface="Tahoma"/>
              </a:rPr>
              <a:t>zaman </a:t>
            </a:r>
            <a:r>
              <a:rPr sz="1850" spc="-10" dirty="0">
                <a:solidFill>
                  <a:srgbClr val="CBD4E1"/>
                </a:solidFill>
                <a:latin typeface="Tahoma"/>
                <a:cs typeface="Tahoma"/>
              </a:rPr>
              <a:t>kayıpları.</a:t>
            </a:r>
            <a:endParaRPr sz="18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517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/>
              <a:t>2)</a:t>
            </a:r>
            <a:r>
              <a:rPr spc="-250" dirty="0"/>
              <a:t> </a:t>
            </a:r>
            <a:r>
              <a:rPr spc="-155" dirty="0"/>
              <a:t>Sağlıktaki</a:t>
            </a:r>
            <a:r>
              <a:rPr spc="-250" dirty="0"/>
              <a:t> </a:t>
            </a:r>
            <a:r>
              <a:rPr spc="-175" dirty="0"/>
              <a:t>Veri</a:t>
            </a:r>
            <a:r>
              <a:rPr spc="-250" dirty="0"/>
              <a:t> </a:t>
            </a:r>
            <a:r>
              <a:rPr spc="-125" dirty="0"/>
              <a:t>Sorunları</a:t>
            </a:r>
            <a:r>
              <a:rPr spc="-250" dirty="0"/>
              <a:t> </a:t>
            </a:r>
            <a:r>
              <a:rPr spc="80" dirty="0">
                <a:solidFill>
                  <a:srgbClr val="CC0000"/>
                </a:solidFill>
              </a:rPr>
              <a:t>|</a:t>
            </a:r>
            <a:r>
              <a:rPr spc="-250" dirty="0">
                <a:solidFill>
                  <a:srgbClr val="CC0000"/>
                </a:solidFill>
              </a:rPr>
              <a:t> </a:t>
            </a:r>
            <a:r>
              <a:rPr spc="-145" dirty="0">
                <a:solidFill>
                  <a:srgbClr val="FFFFFF"/>
                </a:solidFill>
              </a:rPr>
              <a:t>Sağlık</a:t>
            </a:r>
            <a:r>
              <a:rPr spc="-250" dirty="0">
                <a:solidFill>
                  <a:srgbClr val="FFFFFF"/>
                </a:solidFill>
              </a:rPr>
              <a:t> </a:t>
            </a:r>
            <a:r>
              <a:rPr spc="-65" dirty="0">
                <a:solidFill>
                  <a:srgbClr val="FFFFFF"/>
                </a:solidFill>
              </a:rPr>
              <a:t>(HealthTech)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85875"/>
            <a:ext cx="11049000" cy="19685"/>
          </a:xfrm>
          <a:custGeom>
            <a:avLst/>
            <a:gdLst/>
            <a:ahLst/>
            <a:cxnLst/>
            <a:rect l="l" t="t" r="r" b="b"/>
            <a:pathLst>
              <a:path w="11049000" h="19684">
                <a:moveTo>
                  <a:pt x="11048999" y="19199"/>
                </a:moveTo>
                <a:lnTo>
                  <a:pt x="0" y="191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1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6737" y="1709737"/>
            <a:ext cx="3438525" cy="4010025"/>
            <a:chOff x="566737" y="1709737"/>
            <a:chExt cx="3438525" cy="4010025"/>
          </a:xfrm>
        </p:grpSpPr>
        <p:sp>
          <p:nvSpPr>
            <p:cNvPr id="5" name="object 5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0804" y="2117431"/>
              <a:ext cx="349250" cy="2349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02630" y="2403475"/>
            <a:ext cx="2764790" cy="157924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2000" b="1" spc="-105" dirty="0">
                <a:solidFill>
                  <a:srgbClr val="F7FAFC"/>
                </a:solidFill>
                <a:latin typeface="Tahoma"/>
                <a:cs typeface="Tahoma"/>
              </a:rPr>
              <a:t>İşleme</a:t>
            </a:r>
            <a:r>
              <a:rPr sz="2000" b="1" spc="-3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7FAFC"/>
                </a:solidFill>
                <a:latin typeface="Tahoma"/>
                <a:cs typeface="Tahoma"/>
              </a:rPr>
              <a:t>Kapasitesi</a:t>
            </a:r>
            <a:endParaRPr sz="2000">
              <a:latin typeface="Tahoma"/>
              <a:cs typeface="Tahoma"/>
            </a:endParaRPr>
          </a:p>
          <a:p>
            <a:pPr marL="12700" marR="5080" algn="ctr">
              <a:lnSpc>
                <a:spcPct val="101600"/>
              </a:lnSpc>
              <a:spcBef>
                <a:spcPts val="885"/>
              </a:spcBef>
            </a:pP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İnsan</a:t>
            </a:r>
            <a:r>
              <a:rPr sz="1600" spc="-1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CBD4E1"/>
                </a:solidFill>
                <a:latin typeface="Tahoma"/>
                <a:cs typeface="Tahoma"/>
              </a:rPr>
              <a:t>gözünün</a:t>
            </a:r>
            <a:r>
              <a:rPr sz="1600" spc="-1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CBD4E1"/>
                </a:solidFill>
                <a:latin typeface="Tahoma"/>
                <a:cs typeface="Tahoma"/>
              </a:rPr>
              <a:t>binlerce</a:t>
            </a:r>
            <a:r>
              <a:rPr sz="1600" spc="-1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CBD4E1"/>
                </a:solidFill>
                <a:latin typeface="Tahoma"/>
                <a:cs typeface="Tahoma"/>
              </a:rPr>
              <a:t>tahlil </a:t>
            </a:r>
            <a:r>
              <a:rPr sz="1600" spc="75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görüntü</a:t>
            </a:r>
            <a:r>
              <a:rPr sz="1600" spc="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arasındaki</a:t>
            </a:r>
            <a:r>
              <a:rPr sz="1600" spc="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CBD4E1"/>
                </a:solidFill>
                <a:latin typeface="Tahoma"/>
                <a:cs typeface="Tahoma"/>
              </a:rPr>
              <a:t>mikro </a:t>
            </a: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sapmaları</a:t>
            </a:r>
            <a:r>
              <a:rPr sz="1600" spc="16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CBD4E1"/>
                </a:solidFill>
                <a:latin typeface="Tahoma"/>
                <a:cs typeface="Tahoma"/>
              </a:rPr>
              <a:t>fark</a:t>
            </a:r>
            <a:r>
              <a:rPr sz="1600" spc="17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CBD4E1"/>
                </a:solidFill>
                <a:latin typeface="Tahoma"/>
                <a:cs typeface="Tahoma"/>
              </a:rPr>
              <a:t>etmedeki </a:t>
            </a:r>
            <a:r>
              <a:rPr sz="1600" spc="65" dirty="0">
                <a:solidFill>
                  <a:srgbClr val="CBD4E1"/>
                </a:solidFill>
                <a:latin typeface="Tahoma"/>
                <a:cs typeface="Tahoma"/>
              </a:rPr>
              <a:t>doğal</a:t>
            </a:r>
            <a:r>
              <a:rPr sz="1600" spc="-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CBD4E1"/>
                </a:solidFill>
                <a:latin typeface="Tahoma"/>
                <a:cs typeface="Tahoma"/>
              </a:rPr>
              <a:t>sınırı.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76737" y="1709737"/>
            <a:ext cx="3438525" cy="4010025"/>
            <a:chOff x="4376737" y="1709737"/>
            <a:chExt cx="3438525" cy="4010025"/>
          </a:xfrm>
        </p:grpSpPr>
        <p:sp>
          <p:nvSpPr>
            <p:cNvPr id="10" name="object 1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6679" y="2076156"/>
              <a:ext cx="317500" cy="3175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760392" y="2403475"/>
            <a:ext cx="2669540" cy="182689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2000" b="1" spc="-25" dirty="0">
                <a:solidFill>
                  <a:srgbClr val="F7FAFC"/>
                </a:solidFill>
                <a:latin typeface="Tahoma"/>
                <a:cs typeface="Tahoma"/>
              </a:rPr>
              <a:t>Analiz</a:t>
            </a:r>
            <a:r>
              <a:rPr sz="2000" b="1" spc="-9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7FAFC"/>
                </a:solidFill>
                <a:latin typeface="Tahoma"/>
                <a:cs typeface="Tahoma"/>
              </a:rPr>
              <a:t>Gecikmesi</a:t>
            </a:r>
            <a:endParaRPr sz="2000">
              <a:latin typeface="Tahoma"/>
              <a:cs typeface="Tahoma"/>
            </a:endParaRPr>
          </a:p>
          <a:p>
            <a:pPr marL="12700" marR="5080" algn="ctr">
              <a:lnSpc>
                <a:spcPct val="101600"/>
              </a:lnSpc>
              <a:spcBef>
                <a:spcPts val="885"/>
              </a:spcBef>
            </a:pPr>
            <a:r>
              <a:rPr sz="1600" spc="70" dirty="0">
                <a:solidFill>
                  <a:srgbClr val="CBD4E1"/>
                </a:solidFill>
                <a:latin typeface="Tahoma"/>
                <a:cs typeface="Tahoma"/>
              </a:rPr>
              <a:t>Büyük</a:t>
            </a:r>
            <a:r>
              <a:rPr sz="160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verinin</a:t>
            </a:r>
            <a:r>
              <a:rPr sz="1600" spc="11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CBD4E1"/>
                </a:solidFill>
                <a:latin typeface="Tahoma"/>
                <a:cs typeface="Tahoma"/>
              </a:rPr>
              <a:t>manuel </a:t>
            </a: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yorumlanması</a:t>
            </a:r>
            <a:r>
              <a:rPr sz="1600" spc="-1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CBD4E1"/>
                </a:solidFill>
                <a:latin typeface="Tahoma"/>
                <a:cs typeface="Tahoma"/>
              </a:rPr>
              <a:t>sırasında </a:t>
            </a:r>
            <a:r>
              <a:rPr sz="1600" spc="95" dirty="0">
                <a:solidFill>
                  <a:srgbClr val="CBD4E1"/>
                </a:solidFill>
                <a:latin typeface="Tahoma"/>
                <a:cs typeface="Tahoma"/>
              </a:rPr>
              <a:t>geçen</a:t>
            </a:r>
            <a:r>
              <a:rPr sz="16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CBD4E1"/>
                </a:solidFill>
                <a:latin typeface="Tahoma"/>
                <a:cs typeface="Tahoma"/>
              </a:rPr>
              <a:t>sürenin,</a:t>
            </a:r>
            <a:r>
              <a:rPr sz="16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CBD4E1"/>
                </a:solidFill>
                <a:latin typeface="Tahoma"/>
                <a:cs typeface="Tahoma"/>
              </a:rPr>
              <a:t>erken</a:t>
            </a:r>
            <a:r>
              <a:rPr sz="16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teşhis </a:t>
            </a: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fırsatını</a:t>
            </a:r>
            <a:r>
              <a:rPr sz="1600" spc="1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CBD4E1"/>
                </a:solidFill>
                <a:latin typeface="Tahoma"/>
                <a:cs typeface="Tahoma"/>
              </a:rPr>
              <a:t>tamamen</a:t>
            </a:r>
            <a:r>
              <a:rPr sz="1600" spc="1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CBD4E1"/>
                </a:solidFill>
                <a:latin typeface="Tahoma"/>
                <a:cs typeface="Tahoma"/>
              </a:rPr>
              <a:t>ortadan </a:t>
            </a:r>
            <a:r>
              <a:rPr sz="1600" spc="-10" dirty="0">
                <a:solidFill>
                  <a:srgbClr val="CBD4E1"/>
                </a:solidFill>
                <a:latin typeface="Tahoma"/>
                <a:cs typeface="Tahoma"/>
              </a:rPr>
              <a:t>kaldırması.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86737" y="1709737"/>
            <a:ext cx="3438525" cy="4010025"/>
            <a:chOff x="8186737" y="1709737"/>
            <a:chExt cx="3438525" cy="4010025"/>
          </a:xfrm>
        </p:grpSpPr>
        <p:sp>
          <p:nvSpPr>
            <p:cNvPr id="15" name="object 15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8429" y="2092031"/>
              <a:ext cx="254000" cy="2857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515140" y="2403475"/>
            <a:ext cx="2779395" cy="157924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2000" b="1" spc="-60" dirty="0">
                <a:solidFill>
                  <a:srgbClr val="F7FAFC"/>
                </a:solidFill>
                <a:latin typeface="Tahoma"/>
                <a:cs typeface="Tahoma"/>
              </a:rPr>
              <a:t>Karar</a:t>
            </a:r>
            <a:r>
              <a:rPr sz="2000" b="1" spc="-8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rgbClr val="F7FAFC"/>
                </a:solidFill>
                <a:latin typeface="Tahoma"/>
                <a:cs typeface="Tahoma"/>
              </a:rPr>
              <a:t>Destek</a:t>
            </a:r>
            <a:r>
              <a:rPr sz="2000" b="1" spc="-7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7FAFC"/>
                </a:solidFill>
                <a:latin typeface="Tahoma"/>
                <a:cs typeface="Tahoma"/>
              </a:rPr>
              <a:t>Eksikliği</a:t>
            </a:r>
            <a:endParaRPr sz="2000">
              <a:latin typeface="Tahoma"/>
              <a:cs typeface="Tahoma"/>
            </a:endParaRPr>
          </a:p>
          <a:p>
            <a:pPr marL="12700" marR="5080" algn="ctr">
              <a:lnSpc>
                <a:spcPct val="101600"/>
              </a:lnSpc>
              <a:spcBef>
                <a:spcPts val="885"/>
              </a:spcBef>
            </a:pP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Klinik</a:t>
            </a:r>
            <a:r>
              <a:rPr sz="16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CBD4E1"/>
                </a:solidFill>
                <a:latin typeface="Tahoma"/>
                <a:cs typeface="Tahoma"/>
              </a:rPr>
              <a:t>verilerin</a:t>
            </a:r>
            <a:r>
              <a:rPr sz="16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statik</a:t>
            </a:r>
            <a:r>
              <a:rPr sz="16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CBD4E1"/>
                </a:solidFill>
                <a:latin typeface="Tahoma"/>
                <a:cs typeface="Tahoma"/>
              </a:rPr>
              <a:t>kalması, </a:t>
            </a:r>
            <a:r>
              <a:rPr sz="1600" spc="75" dirty="0">
                <a:solidFill>
                  <a:srgbClr val="CBD4E1"/>
                </a:solidFill>
                <a:latin typeface="Tahoma"/>
                <a:cs typeface="Tahoma"/>
              </a:rPr>
              <a:t>benzer</a:t>
            </a:r>
            <a:r>
              <a:rPr sz="1600" spc="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vakalarla</a:t>
            </a:r>
            <a:r>
              <a:rPr sz="1600" spc="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anlık</a:t>
            </a:r>
            <a:r>
              <a:rPr sz="160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ve dinamik</a:t>
            </a:r>
            <a:r>
              <a:rPr sz="1600" spc="-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CBD4E1"/>
                </a:solidFill>
                <a:latin typeface="Tahoma"/>
                <a:cs typeface="Tahoma"/>
              </a:rPr>
              <a:t>karşılaştırma </a:t>
            </a:r>
            <a:r>
              <a:rPr sz="1600" spc="-10" dirty="0">
                <a:solidFill>
                  <a:srgbClr val="CBD4E1"/>
                </a:solidFill>
                <a:latin typeface="Tahoma"/>
                <a:cs typeface="Tahoma"/>
              </a:rPr>
              <a:t>yapılamaması.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52675"/>
            <a:ext cx="3428999" cy="32669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1500" y="2352675"/>
            <a:ext cx="3428999" cy="32669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91500" y="2352675"/>
            <a:ext cx="3428999" cy="32669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4075" y="3331717"/>
            <a:ext cx="2493010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10" dirty="0">
                <a:solidFill>
                  <a:srgbClr val="F7FAFC"/>
                </a:solidFill>
                <a:latin typeface="Arial Black"/>
                <a:cs typeface="Arial Black"/>
              </a:rPr>
              <a:t>Erişim</a:t>
            </a:r>
            <a:r>
              <a:rPr sz="1650" spc="-13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F7FAFC"/>
                </a:solidFill>
                <a:latin typeface="Arial Black"/>
                <a:cs typeface="Arial Black"/>
              </a:rPr>
              <a:t>Engelleri</a:t>
            </a:r>
            <a:endParaRPr sz="1650" dirty="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660"/>
              </a:spcBef>
            </a:pPr>
            <a:r>
              <a:rPr sz="1350" spc="45" dirty="0">
                <a:solidFill>
                  <a:srgbClr val="CBD4E1"/>
                </a:solidFill>
                <a:latin typeface="Tahoma"/>
                <a:cs typeface="Tahoma"/>
              </a:rPr>
              <a:t>Randevu</a:t>
            </a:r>
            <a:r>
              <a:rPr sz="1350" spc="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alma,</a:t>
            </a:r>
            <a:r>
              <a:rPr sz="1350" spc="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BD4E1"/>
                </a:solidFill>
                <a:latin typeface="Tahoma"/>
                <a:cs typeface="Tahoma"/>
              </a:rPr>
              <a:t>sonuç</a:t>
            </a:r>
            <a:r>
              <a:rPr sz="1350" spc="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takibi</a:t>
            </a:r>
            <a:r>
              <a:rPr sz="1350" spc="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35" dirty="0">
                <a:solidFill>
                  <a:srgbClr val="CBD4E1"/>
                </a:solidFill>
                <a:latin typeface="Tahoma"/>
                <a:cs typeface="Tahoma"/>
              </a:rPr>
              <a:t>ve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doktor</a:t>
            </a:r>
            <a:r>
              <a:rPr sz="1350" spc="229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iletişiminin</a:t>
            </a:r>
            <a:r>
              <a:rPr sz="1350" spc="2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CBD4E1"/>
                </a:solidFill>
                <a:latin typeface="Tahoma"/>
                <a:cs typeface="Tahoma"/>
              </a:rPr>
              <a:t>merkezi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olmayan,</a:t>
            </a:r>
            <a:r>
              <a:rPr sz="1350" spc="1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BD4E1"/>
                </a:solidFill>
                <a:latin typeface="Tahoma"/>
                <a:cs typeface="Tahoma"/>
              </a:rPr>
              <a:t>son</a:t>
            </a:r>
            <a:r>
              <a:rPr sz="1350" spc="1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kullanıcı</a:t>
            </a:r>
            <a:r>
              <a:rPr sz="1350" spc="1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30" dirty="0">
                <a:solidFill>
                  <a:srgbClr val="CBD4E1"/>
                </a:solidFill>
                <a:latin typeface="Tahoma"/>
                <a:cs typeface="Tahoma"/>
              </a:rPr>
              <a:t>için </a:t>
            </a:r>
            <a:r>
              <a:rPr sz="1350" spc="45" dirty="0">
                <a:solidFill>
                  <a:srgbClr val="CBD4E1"/>
                </a:solidFill>
                <a:latin typeface="Tahoma"/>
                <a:cs typeface="Tahoma"/>
              </a:rPr>
              <a:t>karmaşık</a:t>
            </a:r>
            <a:r>
              <a:rPr sz="1350" spc="1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platformlara</a:t>
            </a:r>
            <a:r>
              <a:rPr sz="1350" spc="1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Tahoma"/>
                <a:cs typeface="Tahoma"/>
              </a:rPr>
              <a:t>dağılmış olması.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4075" y="3331717"/>
            <a:ext cx="2670175" cy="167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0" dirty="0">
                <a:solidFill>
                  <a:srgbClr val="F7FAFC"/>
                </a:solidFill>
                <a:latin typeface="Arial Black"/>
                <a:cs typeface="Arial Black"/>
              </a:rPr>
              <a:t>Süreç</a:t>
            </a:r>
            <a:r>
              <a:rPr sz="1650" spc="-135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1650" spc="-20" dirty="0">
                <a:solidFill>
                  <a:srgbClr val="F7FAFC"/>
                </a:solidFill>
                <a:latin typeface="Arial Black"/>
                <a:cs typeface="Arial Black"/>
              </a:rPr>
              <a:t>Belirsizliği</a:t>
            </a:r>
            <a:endParaRPr sz="1650" dirty="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660"/>
              </a:spcBef>
            </a:pPr>
            <a:r>
              <a:rPr sz="1350" spc="20" dirty="0">
                <a:solidFill>
                  <a:srgbClr val="CBD4E1"/>
                </a:solidFill>
                <a:latin typeface="Tahoma"/>
                <a:cs typeface="Tahoma"/>
              </a:rPr>
              <a:t>Hastanın</a:t>
            </a:r>
            <a:r>
              <a:rPr sz="1350" spc="1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20" dirty="0">
                <a:solidFill>
                  <a:srgbClr val="CBD4E1"/>
                </a:solidFill>
                <a:latin typeface="Tahoma"/>
                <a:cs typeface="Tahoma"/>
              </a:rPr>
              <a:t>tedavi</a:t>
            </a:r>
            <a:r>
              <a:rPr sz="1350" spc="16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20" dirty="0">
                <a:solidFill>
                  <a:srgbClr val="CBD4E1"/>
                </a:solidFill>
                <a:latin typeface="Tahoma"/>
                <a:cs typeface="Tahoma"/>
              </a:rPr>
              <a:t>yolculuğunda</a:t>
            </a:r>
            <a:r>
              <a:rPr sz="1350" spc="1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CBD4E1"/>
                </a:solidFill>
                <a:latin typeface="Tahoma"/>
                <a:cs typeface="Tahoma"/>
              </a:rPr>
              <a:t>bir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sonraki</a:t>
            </a:r>
            <a:r>
              <a:rPr sz="1350" spc="2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adımını</a:t>
            </a:r>
            <a:r>
              <a:rPr sz="1350" spc="2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CBD4E1"/>
                </a:solidFill>
                <a:latin typeface="Tahoma"/>
                <a:cs typeface="Tahoma"/>
              </a:rPr>
              <a:t>bilememesinden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kaynaklı</a:t>
            </a:r>
            <a:r>
              <a:rPr sz="135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BD4E1"/>
                </a:solidFill>
                <a:latin typeface="Tahoma"/>
                <a:cs typeface="Tahoma"/>
              </a:rPr>
              <a:t>stres</a:t>
            </a:r>
            <a:r>
              <a:rPr sz="1350" spc="10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350" spc="10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sağlık</a:t>
            </a:r>
            <a:r>
              <a:rPr sz="1350" spc="10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Tahoma"/>
                <a:cs typeface="Tahoma"/>
              </a:rPr>
              <a:t>sistemi </a:t>
            </a:r>
            <a:r>
              <a:rPr sz="1350" spc="50" dirty="0">
                <a:solidFill>
                  <a:srgbClr val="CBD4E1"/>
                </a:solidFill>
                <a:latin typeface="Tahoma"/>
                <a:cs typeface="Tahoma"/>
              </a:rPr>
              <a:t>üzerindeki</a:t>
            </a:r>
            <a:r>
              <a:rPr sz="135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BD4E1"/>
                </a:solidFill>
                <a:latin typeface="Tahoma"/>
                <a:cs typeface="Tahoma"/>
              </a:rPr>
              <a:t>gereksiz</a:t>
            </a:r>
            <a:r>
              <a:rPr sz="1350" spc="-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BD4E1"/>
                </a:solidFill>
                <a:latin typeface="Tahoma"/>
                <a:cs typeface="Tahoma"/>
              </a:rPr>
              <a:t>sorgu</a:t>
            </a:r>
            <a:r>
              <a:rPr sz="1350" spc="-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Tahoma"/>
                <a:cs typeface="Tahoma"/>
              </a:rPr>
              <a:t>yükü.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74075" y="3331717"/>
            <a:ext cx="2658745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5" dirty="0" err="1">
                <a:solidFill>
                  <a:srgbClr val="F7FAFC"/>
                </a:solidFill>
                <a:latin typeface="Arial Black"/>
                <a:cs typeface="Arial Black"/>
              </a:rPr>
              <a:t>Kişiselleştirme</a:t>
            </a:r>
            <a:r>
              <a:rPr sz="1650" spc="-80" dirty="0">
                <a:solidFill>
                  <a:srgbClr val="F7FAFC"/>
                </a:solidFill>
                <a:latin typeface="Arial Black"/>
                <a:cs typeface="Arial Black"/>
              </a:rPr>
              <a:t> </a:t>
            </a:r>
            <a:r>
              <a:rPr sz="1650" spc="-10" dirty="0" err="1">
                <a:solidFill>
                  <a:srgbClr val="F7FAFC"/>
                </a:solidFill>
                <a:latin typeface="Arial Black"/>
                <a:cs typeface="Arial Black"/>
              </a:rPr>
              <a:t>Eksikliği</a:t>
            </a:r>
            <a:endParaRPr sz="1650" dirty="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660"/>
              </a:spcBef>
            </a:pPr>
            <a:r>
              <a:rPr sz="1350" spc="55" dirty="0">
                <a:solidFill>
                  <a:srgbClr val="CBD4E1"/>
                </a:solidFill>
                <a:latin typeface="Tahoma"/>
                <a:cs typeface="Tahoma"/>
              </a:rPr>
              <a:t>Genel </a:t>
            </a:r>
            <a:r>
              <a:rPr sz="1350" spc="65" dirty="0" err="1">
                <a:solidFill>
                  <a:srgbClr val="CBD4E1"/>
                </a:solidFill>
                <a:latin typeface="Tahoma"/>
                <a:cs typeface="Tahoma"/>
              </a:rPr>
              <a:t>geçer</a:t>
            </a:r>
            <a:r>
              <a:rPr sz="1350" spc="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 err="1">
                <a:solidFill>
                  <a:srgbClr val="CBD4E1"/>
                </a:solidFill>
                <a:latin typeface="Tahoma"/>
                <a:cs typeface="Tahoma"/>
              </a:rPr>
              <a:t>sağlık</a:t>
            </a:r>
            <a:r>
              <a:rPr sz="1350" spc="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Tahoma"/>
                <a:cs typeface="Tahoma"/>
              </a:rPr>
              <a:t>tavsiyelerinin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ötesine</a:t>
            </a:r>
            <a:r>
              <a:rPr sz="1350" spc="1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BD4E1"/>
                </a:solidFill>
                <a:latin typeface="Tahoma"/>
                <a:cs typeface="Tahoma"/>
              </a:rPr>
              <a:t>geçemeyen,</a:t>
            </a:r>
            <a:r>
              <a:rPr sz="1350" spc="1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Tahoma"/>
                <a:cs typeface="Tahoma"/>
              </a:rPr>
              <a:t>hastanın </a:t>
            </a:r>
            <a:r>
              <a:rPr sz="1350" spc="45" dirty="0">
                <a:solidFill>
                  <a:srgbClr val="CBD4E1"/>
                </a:solidFill>
                <a:latin typeface="Tahoma"/>
                <a:cs typeface="Tahoma"/>
              </a:rPr>
              <a:t>bireysel </a:t>
            </a:r>
            <a:r>
              <a:rPr sz="1350" spc="55" dirty="0">
                <a:solidFill>
                  <a:srgbClr val="CBD4E1"/>
                </a:solidFill>
                <a:latin typeface="Tahoma"/>
                <a:cs typeface="Tahoma"/>
              </a:rPr>
              <a:t>yaşam</a:t>
            </a:r>
            <a:r>
              <a:rPr sz="1350" spc="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tarzına</a:t>
            </a:r>
            <a:r>
              <a:rPr sz="1350" spc="5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35" dirty="0">
                <a:solidFill>
                  <a:srgbClr val="CBD4E1"/>
                </a:solidFill>
                <a:latin typeface="Tahoma"/>
                <a:cs typeface="Tahoma"/>
              </a:rPr>
              <a:t>ve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verilerine</a:t>
            </a:r>
            <a:r>
              <a:rPr sz="1350" spc="2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entegre</a:t>
            </a:r>
            <a:r>
              <a:rPr sz="1350" spc="26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BD4E1"/>
                </a:solidFill>
                <a:latin typeface="Tahoma"/>
                <a:cs typeface="Tahoma"/>
              </a:rPr>
              <a:t>olmayan</a:t>
            </a:r>
            <a:r>
              <a:rPr sz="1350" spc="2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BD4E1"/>
                </a:solidFill>
                <a:latin typeface="Tahoma"/>
                <a:cs typeface="Tahoma"/>
              </a:rPr>
              <a:t>statik sistemler.</a:t>
            </a:r>
            <a:endParaRPr sz="135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6775" y="2686050"/>
            <a:ext cx="285749" cy="3809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76775" y="2686050"/>
            <a:ext cx="380999" cy="3809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86775" y="2686050"/>
            <a:ext cx="476249" cy="38099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517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/>
              <a:t>3)</a:t>
            </a:r>
            <a:r>
              <a:rPr spc="-250" dirty="0"/>
              <a:t> </a:t>
            </a:r>
            <a:r>
              <a:rPr spc="-145" dirty="0"/>
              <a:t>Hasta</a:t>
            </a:r>
            <a:r>
              <a:rPr spc="-245" dirty="0"/>
              <a:t> </a:t>
            </a:r>
            <a:r>
              <a:rPr spc="-100" dirty="0"/>
              <a:t>Deneyimi</a:t>
            </a:r>
            <a:r>
              <a:rPr spc="-245" dirty="0"/>
              <a:t> </a:t>
            </a:r>
            <a:r>
              <a:rPr spc="-114" dirty="0"/>
              <a:t>Problemi</a:t>
            </a:r>
            <a:r>
              <a:rPr spc="-245" dirty="0"/>
              <a:t> </a:t>
            </a:r>
            <a:r>
              <a:rPr spc="80" dirty="0">
                <a:solidFill>
                  <a:srgbClr val="CC0000"/>
                </a:solidFill>
              </a:rPr>
              <a:t>|</a:t>
            </a:r>
            <a:r>
              <a:rPr spc="-250" dirty="0">
                <a:solidFill>
                  <a:srgbClr val="CC0000"/>
                </a:solidFill>
              </a:rPr>
              <a:t> </a:t>
            </a:r>
            <a:r>
              <a:rPr spc="-145" dirty="0">
                <a:solidFill>
                  <a:srgbClr val="FFFFFF"/>
                </a:solidFill>
              </a:rPr>
              <a:t>Sağlık</a:t>
            </a:r>
            <a:r>
              <a:rPr spc="-245" dirty="0">
                <a:solidFill>
                  <a:srgbClr val="FFFFFF"/>
                </a:solidFill>
              </a:rPr>
              <a:t> </a:t>
            </a:r>
            <a:r>
              <a:rPr spc="-75" dirty="0">
                <a:solidFill>
                  <a:srgbClr val="FFFFFF"/>
                </a:solidFill>
              </a:rPr>
              <a:t>(HealthTech)</a:t>
            </a:r>
          </a:p>
        </p:txBody>
      </p:sp>
      <p:sp>
        <p:nvSpPr>
          <p:cNvPr id="12" name="object 12"/>
          <p:cNvSpPr/>
          <p:nvPr/>
        </p:nvSpPr>
        <p:spPr>
          <a:xfrm>
            <a:off x="571500" y="1285875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517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1)</a:t>
            </a:r>
            <a:r>
              <a:rPr spc="-254" dirty="0"/>
              <a:t> </a:t>
            </a:r>
            <a:r>
              <a:rPr spc="-155" dirty="0"/>
              <a:t>Üretim</a:t>
            </a:r>
            <a:r>
              <a:rPr spc="-250" dirty="0"/>
              <a:t> </a:t>
            </a:r>
            <a:r>
              <a:rPr spc="-350" dirty="0"/>
              <a:t>&amp;</a:t>
            </a:r>
            <a:r>
              <a:rPr spc="-250" dirty="0"/>
              <a:t> </a:t>
            </a:r>
            <a:r>
              <a:rPr spc="-85" dirty="0"/>
              <a:t>Operasyon</a:t>
            </a:r>
            <a:r>
              <a:rPr spc="-250" dirty="0"/>
              <a:t> </a:t>
            </a:r>
            <a:r>
              <a:rPr spc="-125" dirty="0"/>
              <a:t>Sorunları</a:t>
            </a:r>
            <a:r>
              <a:rPr spc="-250" dirty="0"/>
              <a:t> </a:t>
            </a:r>
            <a:r>
              <a:rPr spc="80" dirty="0">
                <a:solidFill>
                  <a:srgbClr val="CC0000"/>
                </a:solidFill>
              </a:rPr>
              <a:t>|</a:t>
            </a:r>
            <a:r>
              <a:rPr spc="-250" dirty="0">
                <a:solidFill>
                  <a:srgbClr val="CC0000"/>
                </a:solidFill>
              </a:rPr>
              <a:t> </a:t>
            </a:r>
            <a:r>
              <a:rPr spc="-180" dirty="0">
                <a:solidFill>
                  <a:srgbClr val="FFFFFF"/>
                </a:solidFill>
              </a:rPr>
              <a:t>Endüstri</a:t>
            </a:r>
            <a:r>
              <a:rPr spc="-254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4.0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85875"/>
            <a:ext cx="11049000" cy="19685"/>
          </a:xfrm>
          <a:custGeom>
            <a:avLst/>
            <a:gdLst/>
            <a:ahLst/>
            <a:cxnLst/>
            <a:rect l="l" t="t" r="r" b="b"/>
            <a:pathLst>
              <a:path w="11049000" h="19684">
                <a:moveTo>
                  <a:pt x="11048999" y="19199"/>
                </a:moveTo>
                <a:lnTo>
                  <a:pt x="0" y="191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1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6737" y="1709737"/>
            <a:ext cx="3438525" cy="4010025"/>
            <a:chOff x="566737" y="1709737"/>
            <a:chExt cx="3438525" cy="4010025"/>
          </a:xfrm>
        </p:grpSpPr>
        <p:sp>
          <p:nvSpPr>
            <p:cNvPr id="5" name="object 5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7250" y="2117800"/>
              <a:ext cx="317500" cy="317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95244" y="2393103"/>
            <a:ext cx="2778760" cy="151765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25"/>
              </a:spcBef>
            </a:pPr>
            <a:r>
              <a:rPr sz="2000" b="1" spc="-35" dirty="0">
                <a:solidFill>
                  <a:srgbClr val="F7FAFC"/>
                </a:solidFill>
                <a:latin typeface="Tahoma"/>
                <a:cs typeface="Tahoma"/>
              </a:rPr>
              <a:t>Operasyonel</a:t>
            </a:r>
            <a:r>
              <a:rPr sz="2000" b="1" spc="-4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7FAFC"/>
                </a:solidFill>
                <a:latin typeface="Tahoma"/>
                <a:cs typeface="Tahoma"/>
              </a:rPr>
              <a:t>Hatalar</a:t>
            </a:r>
            <a:endParaRPr sz="2000">
              <a:latin typeface="Tahoma"/>
              <a:cs typeface="Tahoma"/>
            </a:endParaRPr>
          </a:p>
          <a:p>
            <a:pPr marL="12065" marR="5080" algn="ctr">
              <a:lnSpc>
                <a:spcPct val="100000"/>
              </a:lnSpc>
              <a:spcBef>
                <a:spcPts val="919"/>
              </a:spcBef>
            </a:pPr>
            <a:r>
              <a:rPr sz="1500" dirty="0">
                <a:solidFill>
                  <a:srgbClr val="CBD4E1"/>
                </a:solidFill>
                <a:latin typeface="Tahoma"/>
                <a:cs typeface="Tahoma"/>
              </a:rPr>
              <a:t>İnsan</a:t>
            </a:r>
            <a:r>
              <a:rPr sz="1500" spc="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BD4E1"/>
                </a:solidFill>
                <a:latin typeface="Tahoma"/>
                <a:cs typeface="Tahoma"/>
              </a:rPr>
              <a:t>odaklı</a:t>
            </a:r>
            <a:r>
              <a:rPr sz="1500" spc="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BD4E1"/>
                </a:solidFill>
                <a:latin typeface="Tahoma"/>
                <a:cs typeface="Tahoma"/>
              </a:rPr>
              <a:t>üretim</a:t>
            </a:r>
            <a:r>
              <a:rPr sz="1500" spc="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ahoma"/>
                <a:cs typeface="Tahoma"/>
              </a:rPr>
              <a:t>bantlarında </a:t>
            </a:r>
            <a:r>
              <a:rPr sz="1500" dirty="0">
                <a:solidFill>
                  <a:srgbClr val="CBD4E1"/>
                </a:solidFill>
                <a:latin typeface="Tahoma"/>
                <a:cs typeface="Tahoma"/>
              </a:rPr>
              <a:t>yorgunluk</a:t>
            </a:r>
            <a:r>
              <a:rPr sz="1500" spc="1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BD4E1"/>
                </a:solidFill>
                <a:latin typeface="Tahoma"/>
                <a:cs typeface="Tahoma"/>
              </a:rPr>
              <a:t>veya</a:t>
            </a:r>
            <a:r>
              <a:rPr sz="1500" spc="16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ahoma"/>
                <a:cs typeface="Tahoma"/>
              </a:rPr>
              <a:t>dikkat </a:t>
            </a:r>
            <a:r>
              <a:rPr sz="1500" spc="20" dirty="0">
                <a:solidFill>
                  <a:srgbClr val="CBD4E1"/>
                </a:solidFill>
                <a:latin typeface="Tahoma"/>
                <a:cs typeface="Tahoma"/>
              </a:rPr>
              <a:t>dağınıklığı</a:t>
            </a:r>
            <a:r>
              <a:rPr sz="1500" spc="1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20" dirty="0">
                <a:solidFill>
                  <a:srgbClr val="CBD4E1"/>
                </a:solidFill>
                <a:latin typeface="Tahoma"/>
                <a:cs typeface="Tahoma"/>
              </a:rPr>
              <a:t>kaynaklı</a:t>
            </a:r>
            <a:r>
              <a:rPr sz="1500" spc="1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BD4E1"/>
                </a:solidFill>
                <a:latin typeface="Tahoma"/>
                <a:cs typeface="Tahoma"/>
              </a:rPr>
              <a:t>yüksek</a:t>
            </a:r>
            <a:r>
              <a:rPr sz="1500" spc="1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ahoma"/>
                <a:cs typeface="Tahoma"/>
              </a:rPr>
              <a:t>fire </a:t>
            </a:r>
            <a:r>
              <a:rPr sz="1500" spc="-10" dirty="0">
                <a:solidFill>
                  <a:srgbClr val="CBD4E1"/>
                </a:solidFill>
                <a:latin typeface="Tahoma"/>
                <a:cs typeface="Tahoma"/>
              </a:rPr>
              <a:t>oranları.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76737" y="1709737"/>
            <a:ext cx="3438525" cy="4010025"/>
            <a:chOff x="4376737" y="1709737"/>
            <a:chExt cx="3438525" cy="4010025"/>
          </a:xfrm>
        </p:grpSpPr>
        <p:sp>
          <p:nvSpPr>
            <p:cNvPr id="10" name="object 1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7250" y="2149550"/>
              <a:ext cx="317500" cy="2571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87013" y="2393103"/>
            <a:ext cx="2815590" cy="151765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2000" b="1" dirty="0">
                <a:solidFill>
                  <a:srgbClr val="F7FAFC"/>
                </a:solidFill>
                <a:latin typeface="Tahoma"/>
                <a:cs typeface="Tahoma"/>
              </a:rPr>
              <a:t>Hız</a:t>
            </a:r>
            <a:r>
              <a:rPr sz="2000" b="1" spc="-13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7FAFC"/>
                </a:solidFill>
                <a:latin typeface="Tahoma"/>
                <a:cs typeface="Tahoma"/>
              </a:rPr>
              <a:t>Sınırları</a:t>
            </a:r>
            <a:endParaRPr sz="2000">
              <a:latin typeface="Tahoma"/>
              <a:cs typeface="Tahoma"/>
            </a:endParaRPr>
          </a:p>
          <a:p>
            <a:pPr marL="12700" marR="5080" algn="ctr">
              <a:lnSpc>
                <a:spcPct val="100000"/>
              </a:lnSpc>
              <a:spcBef>
                <a:spcPts val="919"/>
              </a:spcBef>
            </a:pPr>
            <a:r>
              <a:rPr sz="1500" spc="65" dirty="0">
                <a:solidFill>
                  <a:srgbClr val="CBD4E1"/>
                </a:solidFill>
                <a:latin typeface="Tahoma"/>
                <a:cs typeface="Tahoma"/>
              </a:rPr>
              <a:t>Manuel </a:t>
            </a:r>
            <a:r>
              <a:rPr sz="1500" dirty="0">
                <a:solidFill>
                  <a:srgbClr val="CBD4E1"/>
                </a:solidFill>
                <a:latin typeface="Tahoma"/>
                <a:cs typeface="Tahoma"/>
              </a:rPr>
              <a:t>kontrol</a:t>
            </a:r>
            <a:r>
              <a:rPr sz="1500" spc="7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ahoma"/>
                <a:cs typeface="Tahoma"/>
              </a:rPr>
              <a:t>noktalarının </a:t>
            </a:r>
            <a:r>
              <a:rPr sz="1500" spc="20" dirty="0">
                <a:solidFill>
                  <a:srgbClr val="CBD4E1"/>
                </a:solidFill>
                <a:latin typeface="Tahoma"/>
                <a:cs typeface="Tahoma"/>
              </a:rPr>
              <a:t>üretim</a:t>
            </a:r>
            <a:r>
              <a:rPr sz="1500" spc="8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CBD4E1"/>
                </a:solidFill>
                <a:latin typeface="Tahoma"/>
                <a:cs typeface="Tahoma"/>
              </a:rPr>
              <a:t>akışını</a:t>
            </a:r>
            <a:r>
              <a:rPr sz="1500" spc="8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20" dirty="0">
                <a:solidFill>
                  <a:srgbClr val="CBD4E1"/>
                </a:solidFill>
                <a:latin typeface="Tahoma"/>
                <a:cs typeface="Tahoma"/>
              </a:rPr>
              <a:t>yavaşlatması</a:t>
            </a:r>
            <a:r>
              <a:rPr sz="1500" spc="8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CBD4E1"/>
                </a:solidFill>
                <a:latin typeface="Tahoma"/>
                <a:cs typeface="Tahoma"/>
              </a:rPr>
              <a:t>ve </a:t>
            </a:r>
            <a:r>
              <a:rPr sz="1500" spc="75" dirty="0">
                <a:solidFill>
                  <a:srgbClr val="CBD4E1"/>
                </a:solidFill>
                <a:latin typeface="Tahoma"/>
                <a:cs typeface="Tahoma"/>
              </a:rPr>
              <a:t>gerçek</a:t>
            </a:r>
            <a:r>
              <a:rPr sz="15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BD4E1"/>
                </a:solidFill>
                <a:latin typeface="Tahoma"/>
                <a:cs typeface="Tahoma"/>
              </a:rPr>
              <a:t>zamanlı</a:t>
            </a:r>
            <a:r>
              <a:rPr sz="15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CBD4E1"/>
                </a:solidFill>
                <a:latin typeface="Tahoma"/>
                <a:cs typeface="Tahoma"/>
              </a:rPr>
              <a:t>kapasite </a:t>
            </a:r>
            <a:r>
              <a:rPr sz="1500" dirty="0">
                <a:solidFill>
                  <a:srgbClr val="CBD4E1"/>
                </a:solidFill>
                <a:latin typeface="Tahoma"/>
                <a:cs typeface="Tahoma"/>
              </a:rPr>
              <a:t>kullanımının</a:t>
            </a:r>
            <a:r>
              <a:rPr sz="1500" spc="26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BD4E1"/>
                </a:solidFill>
                <a:latin typeface="Tahoma"/>
                <a:cs typeface="Tahoma"/>
              </a:rPr>
              <a:t>takip</a:t>
            </a:r>
            <a:r>
              <a:rPr sz="1500" spc="27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CBD4E1"/>
                </a:solidFill>
                <a:latin typeface="Tahoma"/>
                <a:cs typeface="Tahoma"/>
              </a:rPr>
              <a:t>edilememesi.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86737" y="1709737"/>
            <a:ext cx="3438525" cy="4010025"/>
            <a:chOff x="8186737" y="1709737"/>
            <a:chExt cx="3438525" cy="4010025"/>
          </a:xfrm>
        </p:grpSpPr>
        <p:sp>
          <p:nvSpPr>
            <p:cNvPr id="15" name="object 15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5825" y="2098750"/>
              <a:ext cx="260350" cy="3556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488362" y="2393103"/>
            <a:ext cx="2834005" cy="151765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2000" b="1" spc="-40" dirty="0">
                <a:solidFill>
                  <a:srgbClr val="F7FAFC"/>
                </a:solidFill>
                <a:latin typeface="Tahoma"/>
                <a:cs typeface="Tahoma"/>
              </a:rPr>
              <a:t>Geri</a:t>
            </a:r>
            <a:r>
              <a:rPr sz="2000" b="1" spc="-8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rgbClr val="F7FAFC"/>
                </a:solidFill>
                <a:latin typeface="Tahoma"/>
                <a:cs typeface="Tahoma"/>
              </a:rPr>
              <a:t>Bildirim </a:t>
            </a:r>
            <a:r>
              <a:rPr sz="2000" b="1" spc="-10" dirty="0">
                <a:solidFill>
                  <a:srgbClr val="F7FAFC"/>
                </a:solidFill>
                <a:latin typeface="Tahoma"/>
                <a:cs typeface="Tahoma"/>
              </a:rPr>
              <a:t>Döngüsü</a:t>
            </a:r>
            <a:endParaRPr sz="2000">
              <a:latin typeface="Tahoma"/>
              <a:cs typeface="Tahoma"/>
            </a:endParaRPr>
          </a:p>
          <a:p>
            <a:pPr marL="12700" marR="5080" indent="-1905" algn="ctr">
              <a:lnSpc>
                <a:spcPct val="100000"/>
              </a:lnSpc>
              <a:spcBef>
                <a:spcPts val="919"/>
              </a:spcBef>
            </a:pPr>
            <a:r>
              <a:rPr sz="1500" dirty="0">
                <a:solidFill>
                  <a:srgbClr val="CBD4E1"/>
                </a:solidFill>
                <a:latin typeface="Tahoma"/>
                <a:cs typeface="Tahoma"/>
              </a:rPr>
              <a:t>Hatalı</a:t>
            </a:r>
            <a:r>
              <a:rPr sz="15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BD4E1"/>
                </a:solidFill>
                <a:latin typeface="Tahoma"/>
                <a:cs typeface="Tahoma"/>
              </a:rPr>
              <a:t>üretimin</a:t>
            </a:r>
            <a:r>
              <a:rPr sz="150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BD4E1"/>
                </a:solidFill>
                <a:latin typeface="Tahoma"/>
                <a:cs typeface="Tahoma"/>
              </a:rPr>
              <a:t>bandın</a:t>
            </a:r>
            <a:r>
              <a:rPr sz="150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BD4E1"/>
                </a:solidFill>
                <a:latin typeface="Tahoma"/>
                <a:cs typeface="Tahoma"/>
              </a:rPr>
              <a:t>ancak </a:t>
            </a:r>
            <a:r>
              <a:rPr sz="1500" spc="55" dirty="0">
                <a:solidFill>
                  <a:srgbClr val="CBD4E1"/>
                </a:solidFill>
                <a:latin typeface="Tahoma"/>
                <a:cs typeface="Tahoma"/>
              </a:rPr>
              <a:t>sonunda</a:t>
            </a:r>
            <a:r>
              <a:rPr sz="1500" spc="-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BD4E1"/>
                </a:solidFill>
                <a:latin typeface="Tahoma"/>
                <a:cs typeface="Tahoma"/>
              </a:rPr>
              <a:t>fark</a:t>
            </a:r>
            <a:r>
              <a:rPr sz="1500" spc="-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CBD4E1"/>
                </a:solidFill>
                <a:latin typeface="Tahoma"/>
                <a:cs typeface="Tahoma"/>
              </a:rPr>
              <a:t>edilmesi </a:t>
            </a:r>
            <a:r>
              <a:rPr sz="1500" spc="60" dirty="0">
                <a:solidFill>
                  <a:srgbClr val="CBD4E1"/>
                </a:solidFill>
                <a:latin typeface="Tahoma"/>
                <a:cs typeface="Tahoma"/>
              </a:rPr>
              <a:t>nedeniyle</a:t>
            </a:r>
            <a:r>
              <a:rPr sz="1500" spc="-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BD4E1"/>
                </a:solidFill>
                <a:latin typeface="Tahoma"/>
                <a:cs typeface="Tahoma"/>
              </a:rPr>
              <a:t>geri</a:t>
            </a:r>
            <a:r>
              <a:rPr sz="1500" spc="-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BD4E1"/>
                </a:solidFill>
                <a:latin typeface="Tahoma"/>
                <a:cs typeface="Tahoma"/>
              </a:rPr>
              <a:t>dönüşü</a:t>
            </a:r>
            <a:r>
              <a:rPr sz="1500" spc="-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ahoma"/>
                <a:cs typeface="Tahoma"/>
              </a:rPr>
              <a:t>olmayan </a:t>
            </a:r>
            <a:r>
              <a:rPr sz="1500" spc="50" dirty="0">
                <a:solidFill>
                  <a:srgbClr val="CBD4E1"/>
                </a:solidFill>
                <a:latin typeface="Tahoma"/>
                <a:cs typeface="Tahoma"/>
              </a:rPr>
              <a:t>maddi</a:t>
            </a:r>
            <a:r>
              <a:rPr sz="15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5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BD4E1"/>
                </a:solidFill>
                <a:latin typeface="Tahoma"/>
                <a:cs typeface="Tahoma"/>
              </a:rPr>
              <a:t>kaynak</a:t>
            </a:r>
            <a:r>
              <a:rPr sz="15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ahoma"/>
                <a:cs typeface="Tahoma"/>
              </a:rPr>
              <a:t>israfları.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2775" y="352742"/>
            <a:ext cx="11130424" cy="667169"/>
          </a:xfrm>
          <a:prstGeom prst="rect">
            <a:avLst/>
          </a:prstGeom>
        </p:spPr>
        <p:txBody>
          <a:bodyPr vert="horz" wrap="square" lIns="0" tIns="203517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/>
              <a:t>2)</a:t>
            </a:r>
            <a:r>
              <a:rPr spc="-260" dirty="0"/>
              <a:t> </a:t>
            </a:r>
            <a:r>
              <a:rPr spc="-195" dirty="0"/>
              <a:t>Kestirimci</a:t>
            </a:r>
            <a:r>
              <a:rPr spc="-260" dirty="0"/>
              <a:t> </a:t>
            </a:r>
            <a:r>
              <a:rPr spc="-130" dirty="0"/>
              <a:t>Bakım</a:t>
            </a:r>
            <a:r>
              <a:rPr spc="-254" dirty="0"/>
              <a:t> </a:t>
            </a:r>
            <a:r>
              <a:rPr spc="-350" dirty="0"/>
              <a:t>&amp;</a:t>
            </a:r>
            <a:r>
              <a:rPr spc="-260" dirty="0"/>
              <a:t> </a:t>
            </a:r>
            <a:r>
              <a:rPr spc="-150" dirty="0" err="1"/>
              <a:t>İzleme</a:t>
            </a:r>
            <a:r>
              <a:rPr lang="tr-TR" spc="-150" dirty="0"/>
              <a:t> Sorunları</a:t>
            </a:r>
            <a:r>
              <a:rPr spc="-260" dirty="0"/>
              <a:t> </a:t>
            </a:r>
            <a:r>
              <a:rPr spc="80" dirty="0">
                <a:solidFill>
                  <a:srgbClr val="CC0000"/>
                </a:solidFill>
              </a:rPr>
              <a:t>|</a:t>
            </a:r>
            <a:r>
              <a:rPr spc="-254" dirty="0">
                <a:solidFill>
                  <a:srgbClr val="CC0000"/>
                </a:solidFill>
              </a:rPr>
              <a:t> </a:t>
            </a:r>
            <a:r>
              <a:rPr spc="-180" dirty="0">
                <a:solidFill>
                  <a:srgbClr val="FFFFFF"/>
                </a:solidFill>
              </a:rPr>
              <a:t>Endüstri</a:t>
            </a:r>
            <a:r>
              <a:rPr spc="-26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4.0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85875"/>
            <a:ext cx="11049000" cy="19685"/>
          </a:xfrm>
          <a:custGeom>
            <a:avLst/>
            <a:gdLst/>
            <a:ahLst/>
            <a:cxnLst/>
            <a:rect l="l" t="t" r="r" b="b"/>
            <a:pathLst>
              <a:path w="11049000" h="19684">
                <a:moveTo>
                  <a:pt x="11048999" y="19199"/>
                </a:moveTo>
                <a:lnTo>
                  <a:pt x="0" y="191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1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6737" y="1709737"/>
            <a:ext cx="3438525" cy="4010025"/>
            <a:chOff x="566737" y="1709737"/>
            <a:chExt cx="3438525" cy="4010025"/>
          </a:xfrm>
        </p:grpSpPr>
        <p:sp>
          <p:nvSpPr>
            <p:cNvPr id="5" name="object 5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5975" y="2121038"/>
              <a:ext cx="393700" cy="396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16220" y="2481274"/>
            <a:ext cx="2738755" cy="168719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70"/>
              </a:spcBef>
            </a:pPr>
            <a:r>
              <a:rPr sz="2300" b="1" spc="-95" dirty="0">
                <a:solidFill>
                  <a:srgbClr val="F7FAFC"/>
                </a:solidFill>
                <a:latin typeface="Tahoma"/>
                <a:cs typeface="Tahoma"/>
              </a:rPr>
              <a:t>Reaktif</a:t>
            </a:r>
            <a:r>
              <a:rPr sz="2300" b="1" spc="-3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300" b="1" spc="-10" dirty="0">
                <a:solidFill>
                  <a:srgbClr val="F7FAFC"/>
                </a:solidFill>
                <a:latin typeface="Tahoma"/>
                <a:cs typeface="Tahoma"/>
              </a:rPr>
              <a:t>Yaklaşım</a:t>
            </a:r>
            <a:endParaRPr sz="2300">
              <a:latin typeface="Tahoma"/>
              <a:cs typeface="Tahoma"/>
            </a:endParaRPr>
          </a:p>
          <a:p>
            <a:pPr marL="12065" marR="5080" indent="-1270" algn="ctr">
              <a:lnSpc>
                <a:spcPts val="2030"/>
              </a:lnSpc>
              <a:spcBef>
                <a:spcPts val="1015"/>
              </a:spcBef>
            </a:pPr>
            <a:r>
              <a:rPr sz="1700" spc="70" dirty="0">
                <a:solidFill>
                  <a:srgbClr val="CBD4E1"/>
                </a:solidFill>
                <a:latin typeface="Tahoma"/>
                <a:cs typeface="Tahoma"/>
              </a:rPr>
              <a:t>"Bozulana</a:t>
            </a:r>
            <a:r>
              <a:rPr sz="17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kadar</a:t>
            </a:r>
            <a:r>
              <a:rPr sz="17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45" dirty="0">
                <a:solidFill>
                  <a:srgbClr val="CBD4E1"/>
                </a:solidFill>
                <a:latin typeface="Tahoma"/>
                <a:cs typeface="Tahoma"/>
              </a:rPr>
              <a:t>çalıştır" </a:t>
            </a: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mantığının</a:t>
            </a:r>
            <a:r>
              <a:rPr sz="1700" spc="2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yarattığı</a:t>
            </a:r>
            <a:r>
              <a:rPr sz="1700" spc="2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plansız </a:t>
            </a:r>
            <a:r>
              <a:rPr sz="1700" spc="55" dirty="0">
                <a:solidFill>
                  <a:srgbClr val="CBD4E1"/>
                </a:solidFill>
                <a:latin typeface="Tahoma"/>
                <a:cs typeface="Tahoma"/>
              </a:rPr>
              <a:t>duruşlar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CBD4E1"/>
                </a:solidFill>
                <a:latin typeface="Tahoma"/>
                <a:cs typeface="Tahoma"/>
              </a:rPr>
              <a:t>işletmelerdeki </a:t>
            </a: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ani</a:t>
            </a:r>
            <a:r>
              <a:rPr sz="17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bakım</a:t>
            </a:r>
            <a:r>
              <a:rPr sz="1700" spc="9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maliyeti</a:t>
            </a:r>
            <a:r>
              <a:rPr sz="1700" spc="10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CBD4E1"/>
                </a:solidFill>
                <a:latin typeface="Tahoma"/>
                <a:cs typeface="Tahoma"/>
              </a:rPr>
              <a:t>artışları.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76737" y="1709737"/>
            <a:ext cx="3438525" cy="4010025"/>
            <a:chOff x="4376737" y="1709737"/>
            <a:chExt cx="3438525" cy="4010025"/>
          </a:xfrm>
        </p:grpSpPr>
        <p:sp>
          <p:nvSpPr>
            <p:cNvPr id="10" name="object 1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2325" y="2159138"/>
              <a:ext cx="387350" cy="3333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74378" y="2481274"/>
            <a:ext cx="2841625" cy="194437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70"/>
              </a:spcBef>
            </a:pPr>
            <a:r>
              <a:rPr sz="2300" b="1" spc="-50" dirty="0">
                <a:solidFill>
                  <a:srgbClr val="F7FAFC"/>
                </a:solidFill>
                <a:latin typeface="Tahoma"/>
                <a:cs typeface="Tahoma"/>
              </a:rPr>
              <a:t>Görünmez</a:t>
            </a:r>
            <a:r>
              <a:rPr sz="2300" b="1" spc="-12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300" b="1" spc="-10" dirty="0">
                <a:solidFill>
                  <a:srgbClr val="F7FAFC"/>
                </a:solidFill>
                <a:latin typeface="Tahoma"/>
                <a:cs typeface="Tahoma"/>
              </a:rPr>
              <a:t>Arızalar</a:t>
            </a:r>
            <a:endParaRPr sz="2300">
              <a:latin typeface="Tahoma"/>
              <a:cs typeface="Tahoma"/>
            </a:endParaRPr>
          </a:p>
          <a:p>
            <a:pPr marL="12065" marR="5080" indent="635" algn="ctr">
              <a:lnSpc>
                <a:spcPts val="2030"/>
              </a:lnSpc>
              <a:spcBef>
                <a:spcPts val="1015"/>
              </a:spcBef>
            </a:pP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Makinelerin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CBD4E1"/>
                </a:solidFill>
                <a:latin typeface="Tahoma"/>
                <a:cs typeface="Tahoma"/>
              </a:rPr>
              <a:t>iç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CBD4E1"/>
                </a:solidFill>
                <a:latin typeface="Tahoma"/>
                <a:cs typeface="Tahoma"/>
              </a:rPr>
              <a:t>işleyişindeki </a:t>
            </a: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ısı,</a:t>
            </a:r>
            <a:r>
              <a:rPr sz="1700" spc="8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titreşim</a:t>
            </a:r>
            <a:r>
              <a:rPr sz="1700" spc="7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CBD4E1"/>
                </a:solidFill>
                <a:latin typeface="Tahoma"/>
                <a:cs typeface="Tahoma"/>
              </a:rPr>
              <a:t>gibi</a:t>
            </a:r>
            <a:r>
              <a:rPr sz="1700" spc="8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CBD4E1"/>
                </a:solidFill>
                <a:latin typeface="Tahoma"/>
                <a:cs typeface="Tahoma"/>
              </a:rPr>
              <a:t>anomalilerin </a:t>
            </a:r>
            <a:r>
              <a:rPr sz="1700" spc="55" dirty="0">
                <a:solidFill>
                  <a:srgbClr val="CBD4E1"/>
                </a:solidFill>
                <a:latin typeface="Tahoma"/>
                <a:cs typeface="Tahoma"/>
              </a:rPr>
              <a:t>insan</a:t>
            </a:r>
            <a:r>
              <a:rPr sz="1700" spc="-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45" dirty="0">
                <a:solidFill>
                  <a:srgbClr val="CBD4E1"/>
                </a:solidFill>
                <a:latin typeface="Tahoma"/>
                <a:cs typeface="Tahoma"/>
              </a:rPr>
              <a:t>duyuları</a:t>
            </a:r>
            <a:r>
              <a:rPr sz="1700" spc="-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CBD4E1"/>
                </a:solidFill>
                <a:latin typeface="Tahoma"/>
                <a:cs typeface="Tahoma"/>
              </a:rPr>
              <a:t>tarafından </a:t>
            </a:r>
            <a:r>
              <a:rPr sz="1700" spc="65" dirty="0">
                <a:solidFill>
                  <a:srgbClr val="CBD4E1"/>
                </a:solidFill>
                <a:latin typeface="Tahoma"/>
                <a:cs typeface="Tahoma"/>
              </a:rPr>
              <a:t>zamanında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40" dirty="0">
                <a:solidFill>
                  <a:srgbClr val="CBD4E1"/>
                </a:solidFill>
                <a:latin typeface="Tahoma"/>
                <a:cs typeface="Tahoma"/>
              </a:rPr>
              <a:t>fark edilememesi.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86737" y="1709737"/>
            <a:ext cx="3438525" cy="4010025"/>
            <a:chOff x="8186737" y="1709737"/>
            <a:chExt cx="3438525" cy="4010025"/>
          </a:xfrm>
        </p:grpSpPr>
        <p:sp>
          <p:nvSpPr>
            <p:cNvPr id="15" name="object 15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1375" y="2143263"/>
              <a:ext cx="349250" cy="3492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519676" y="2481274"/>
            <a:ext cx="2770505" cy="168719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70"/>
              </a:spcBef>
            </a:pPr>
            <a:r>
              <a:rPr sz="2300" b="1" spc="-60" dirty="0">
                <a:solidFill>
                  <a:srgbClr val="F7FAFC"/>
                </a:solidFill>
                <a:latin typeface="Tahoma"/>
                <a:cs typeface="Tahoma"/>
              </a:rPr>
              <a:t>Yedek</a:t>
            </a:r>
            <a:r>
              <a:rPr sz="2300" b="1" spc="-11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300" b="1" spc="-30" dirty="0">
                <a:solidFill>
                  <a:srgbClr val="F7FAFC"/>
                </a:solidFill>
                <a:latin typeface="Tahoma"/>
                <a:cs typeface="Tahoma"/>
              </a:rPr>
              <a:t>Parça</a:t>
            </a:r>
            <a:r>
              <a:rPr sz="2300" b="1" spc="-10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300" b="1" spc="-20" dirty="0">
                <a:solidFill>
                  <a:srgbClr val="F7FAFC"/>
                </a:solidFill>
                <a:latin typeface="Tahoma"/>
                <a:cs typeface="Tahoma"/>
              </a:rPr>
              <a:t>Krizi</a:t>
            </a:r>
            <a:endParaRPr sz="2300">
              <a:latin typeface="Tahoma"/>
              <a:cs typeface="Tahoma"/>
            </a:endParaRPr>
          </a:p>
          <a:p>
            <a:pPr marL="12065" marR="5080" algn="ctr">
              <a:lnSpc>
                <a:spcPts val="2030"/>
              </a:lnSpc>
              <a:spcBef>
                <a:spcPts val="1015"/>
              </a:spcBef>
            </a:pPr>
            <a:r>
              <a:rPr sz="1700" spc="80" dirty="0">
                <a:solidFill>
                  <a:srgbClr val="CBD4E1"/>
                </a:solidFill>
                <a:latin typeface="Tahoma"/>
                <a:cs typeface="Tahoma"/>
              </a:rPr>
              <a:t>Arıza</a:t>
            </a:r>
            <a:r>
              <a:rPr sz="17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CBD4E1"/>
                </a:solidFill>
                <a:latin typeface="Tahoma"/>
                <a:cs typeface="Tahoma"/>
              </a:rPr>
              <a:t>anında</a:t>
            </a:r>
            <a:r>
              <a:rPr sz="17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CBD4E1"/>
                </a:solidFill>
                <a:latin typeface="Tahoma"/>
                <a:cs typeface="Tahoma"/>
              </a:rPr>
              <a:t>parçanın</a:t>
            </a:r>
            <a:r>
              <a:rPr sz="17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CBD4E1"/>
                </a:solidFill>
                <a:latin typeface="Tahoma"/>
                <a:cs typeface="Tahoma"/>
              </a:rPr>
              <a:t>anlık </a:t>
            </a:r>
            <a:r>
              <a:rPr sz="1700" spc="50" dirty="0">
                <a:solidFill>
                  <a:srgbClr val="CBD4E1"/>
                </a:solidFill>
                <a:latin typeface="Tahoma"/>
                <a:cs typeface="Tahoma"/>
              </a:rPr>
              <a:t>stokta</a:t>
            </a:r>
            <a:r>
              <a:rPr sz="170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CBD4E1"/>
                </a:solidFill>
                <a:latin typeface="Tahoma"/>
                <a:cs typeface="Tahoma"/>
              </a:rPr>
              <a:t>olmaması</a:t>
            </a:r>
            <a:r>
              <a:rPr sz="17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CBD4E1"/>
                </a:solidFill>
                <a:latin typeface="Tahoma"/>
                <a:cs typeface="Tahoma"/>
              </a:rPr>
              <a:t>nedeniyle </a:t>
            </a:r>
            <a:r>
              <a:rPr sz="1700" spc="65" dirty="0">
                <a:solidFill>
                  <a:srgbClr val="CBD4E1"/>
                </a:solidFill>
                <a:latin typeface="Tahoma"/>
                <a:cs typeface="Tahoma"/>
              </a:rPr>
              <a:t>saatlerce</a:t>
            </a:r>
            <a:r>
              <a:rPr sz="170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CBD4E1"/>
                </a:solidFill>
                <a:latin typeface="Tahoma"/>
                <a:cs typeface="Tahoma"/>
              </a:rPr>
              <a:t>duran</a:t>
            </a:r>
            <a:r>
              <a:rPr sz="170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CBD4E1"/>
                </a:solidFill>
                <a:latin typeface="Tahoma"/>
                <a:cs typeface="Tahoma"/>
              </a:rPr>
              <a:t>üretim hatları.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66737" y="1709737"/>
            <a:ext cx="3438525" cy="4010025"/>
            <a:chOff x="566737" y="1709737"/>
            <a:chExt cx="3438525" cy="4010025"/>
          </a:xfrm>
        </p:grpSpPr>
        <p:sp>
          <p:nvSpPr>
            <p:cNvPr id="4" name="object 4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0124" y="2197036"/>
              <a:ext cx="431800" cy="3746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76180" y="2589634"/>
            <a:ext cx="2880360" cy="216979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R="55244" algn="ctr">
              <a:lnSpc>
                <a:spcPct val="100000"/>
              </a:lnSpc>
              <a:spcBef>
                <a:spcPts val="1270"/>
              </a:spcBef>
            </a:pPr>
            <a:r>
              <a:rPr sz="2200" b="1" spc="-70" dirty="0">
                <a:solidFill>
                  <a:srgbClr val="F7FAFC"/>
                </a:solidFill>
                <a:latin typeface="Tahoma"/>
                <a:cs typeface="Tahoma"/>
              </a:rPr>
              <a:t>Görünürlük</a:t>
            </a:r>
            <a:r>
              <a:rPr sz="2200" b="1" spc="-1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200" b="1" spc="-20" dirty="0">
                <a:solidFill>
                  <a:srgbClr val="F7FAFC"/>
                </a:solidFill>
                <a:latin typeface="Tahoma"/>
                <a:cs typeface="Tahoma"/>
              </a:rPr>
              <a:t>Kaybı</a:t>
            </a:r>
            <a:endParaRPr sz="2200" dirty="0">
              <a:latin typeface="Tahoma"/>
              <a:cs typeface="Tahoma"/>
            </a:endParaRPr>
          </a:p>
          <a:p>
            <a:pPr marL="12700" marR="5080" indent="-61594" algn="ctr">
              <a:lnSpc>
                <a:spcPts val="2030"/>
              </a:lnSpc>
              <a:spcBef>
                <a:spcPts val="980"/>
              </a:spcBef>
            </a:pP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Ürünün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CBD4E1"/>
                </a:solidFill>
                <a:latin typeface="Tahoma"/>
                <a:cs typeface="Tahoma"/>
              </a:rPr>
              <a:t>sevkiyat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CBD4E1"/>
                </a:solidFill>
                <a:latin typeface="Tahoma"/>
                <a:cs typeface="Tahoma"/>
              </a:rPr>
              <a:t>sırasında </a:t>
            </a: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"kör</a:t>
            </a:r>
            <a:r>
              <a:rPr sz="1700" spc="8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noktada"</a:t>
            </a:r>
            <a:r>
              <a:rPr sz="1700" spc="8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kalması,</a:t>
            </a:r>
            <a:r>
              <a:rPr sz="17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CBD4E1"/>
                </a:solidFill>
                <a:latin typeface="Tahoma"/>
                <a:cs typeface="Tahoma"/>
              </a:rPr>
              <a:t>takip </a:t>
            </a: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edilememesi</a:t>
            </a:r>
            <a:r>
              <a:rPr sz="1700" spc="-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CBD4E1"/>
                </a:solidFill>
                <a:latin typeface="Tahoma"/>
                <a:cs typeface="Tahoma"/>
              </a:rPr>
              <a:t>ve </a:t>
            </a:r>
            <a:r>
              <a:rPr sz="1700" spc="70" dirty="0">
                <a:solidFill>
                  <a:srgbClr val="CBD4E1"/>
                </a:solidFill>
                <a:latin typeface="Tahoma"/>
                <a:cs typeface="Tahoma"/>
              </a:rPr>
              <a:t>oluşabilecek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CBD4E1"/>
                </a:solidFill>
                <a:latin typeface="Tahoma"/>
                <a:cs typeface="Tahoma"/>
              </a:rPr>
              <a:t>gecikmelerin </a:t>
            </a:r>
            <a:r>
              <a:rPr sz="1700" spc="55" dirty="0">
                <a:solidFill>
                  <a:srgbClr val="CBD4E1"/>
                </a:solidFill>
                <a:latin typeface="Tahoma"/>
                <a:cs typeface="Tahoma"/>
              </a:rPr>
              <a:t>zamanında </a:t>
            </a:r>
            <a:r>
              <a:rPr sz="1700" spc="40" dirty="0">
                <a:solidFill>
                  <a:srgbClr val="CBD4E1"/>
                </a:solidFill>
                <a:latin typeface="Tahoma"/>
                <a:cs typeface="Tahoma"/>
              </a:rPr>
              <a:t>raporlanamaması.</a:t>
            </a:r>
            <a:endParaRPr sz="17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76737" y="1709737"/>
            <a:ext cx="3438525" cy="4010025"/>
            <a:chOff x="4376737" y="1709737"/>
            <a:chExt cx="3438525" cy="4010025"/>
          </a:xfrm>
        </p:grpSpPr>
        <p:sp>
          <p:nvSpPr>
            <p:cNvPr id="9" name="object 9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8224" y="2177986"/>
              <a:ext cx="355600" cy="3937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782225" y="2589634"/>
            <a:ext cx="2626995" cy="191262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70"/>
              </a:spcBef>
            </a:pPr>
            <a:r>
              <a:rPr sz="2200" b="1" spc="-40" dirty="0">
                <a:solidFill>
                  <a:srgbClr val="F7FAFC"/>
                </a:solidFill>
                <a:latin typeface="Tahoma"/>
                <a:cs typeface="Tahoma"/>
              </a:rPr>
              <a:t>Verimsiz</a:t>
            </a:r>
            <a:r>
              <a:rPr sz="2200" b="1" spc="-9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200" b="1" spc="-20" dirty="0">
                <a:solidFill>
                  <a:srgbClr val="F7FAFC"/>
                </a:solidFill>
                <a:latin typeface="Tahoma"/>
                <a:cs typeface="Tahoma"/>
              </a:rPr>
              <a:t>Rota</a:t>
            </a:r>
            <a:endParaRPr sz="2200" dirty="0">
              <a:latin typeface="Tahoma"/>
              <a:cs typeface="Tahoma"/>
            </a:endParaRPr>
          </a:p>
          <a:p>
            <a:pPr marL="12700" marR="5080" algn="ctr">
              <a:lnSpc>
                <a:spcPts val="2030"/>
              </a:lnSpc>
              <a:spcBef>
                <a:spcPts val="980"/>
              </a:spcBef>
            </a:pP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Statik</a:t>
            </a:r>
            <a:r>
              <a:rPr sz="1700" spc="26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planlama</a:t>
            </a:r>
            <a:r>
              <a:rPr sz="1700" spc="26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CBD4E1"/>
                </a:solidFill>
                <a:latin typeface="Tahoma"/>
                <a:cs typeface="Tahoma"/>
              </a:rPr>
              <a:t>nedeniyle </a:t>
            </a: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anlık</a:t>
            </a:r>
            <a:r>
              <a:rPr sz="1700" spc="6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CBD4E1"/>
                </a:solidFill>
                <a:latin typeface="Tahoma"/>
                <a:cs typeface="Tahoma"/>
              </a:rPr>
              <a:t>değişen</a:t>
            </a:r>
            <a:r>
              <a:rPr sz="1700" spc="6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CBD4E1"/>
                </a:solidFill>
                <a:latin typeface="Tahoma"/>
                <a:cs typeface="Tahoma"/>
              </a:rPr>
              <a:t>trafik, </a:t>
            </a:r>
            <a:r>
              <a:rPr sz="1700" spc="70" dirty="0">
                <a:solidFill>
                  <a:srgbClr val="CBD4E1"/>
                </a:solidFill>
                <a:latin typeface="Tahoma"/>
                <a:cs typeface="Tahoma"/>
              </a:rPr>
              <a:t>bölgesel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CBD4E1"/>
                </a:solidFill>
                <a:latin typeface="Tahoma"/>
                <a:cs typeface="Tahoma"/>
              </a:rPr>
              <a:t>hava</a:t>
            </a:r>
            <a:r>
              <a:rPr sz="170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70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40" dirty="0">
                <a:solidFill>
                  <a:srgbClr val="CBD4E1"/>
                </a:solidFill>
                <a:latin typeface="Tahoma"/>
                <a:cs typeface="Tahoma"/>
              </a:rPr>
              <a:t>gümrük </a:t>
            </a:r>
            <a:r>
              <a:rPr sz="1700" spc="45" dirty="0">
                <a:solidFill>
                  <a:srgbClr val="CBD4E1"/>
                </a:solidFill>
                <a:latin typeface="Tahoma"/>
                <a:cs typeface="Tahoma"/>
              </a:rPr>
              <a:t>koşullarına</a:t>
            </a:r>
            <a:r>
              <a:rPr sz="1700" spc="-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CBD4E1"/>
                </a:solidFill>
                <a:latin typeface="Tahoma"/>
                <a:cs typeface="Tahoma"/>
              </a:rPr>
              <a:t>hızlı</a:t>
            </a:r>
            <a:r>
              <a:rPr sz="1700" spc="-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CBD4E1"/>
                </a:solidFill>
                <a:latin typeface="Tahoma"/>
                <a:cs typeface="Tahoma"/>
              </a:rPr>
              <a:t>tepki </a:t>
            </a:r>
            <a:r>
              <a:rPr sz="1700" spc="40" dirty="0">
                <a:solidFill>
                  <a:srgbClr val="CBD4E1"/>
                </a:solidFill>
                <a:latin typeface="Tahoma"/>
                <a:cs typeface="Tahoma"/>
              </a:rPr>
              <a:t>verilememesi.</a:t>
            </a:r>
            <a:endParaRPr sz="1700" dirty="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86737" y="1709737"/>
            <a:ext cx="3438525" cy="4010025"/>
            <a:chOff x="8186737" y="1709737"/>
            <a:chExt cx="3438525" cy="4010025"/>
          </a:xfrm>
        </p:grpSpPr>
        <p:sp>
          <p:nvSpPr>
            <p:cNvPr id="14" name="object 14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09175" y="2177986"/>
              <a:ext cx="393700" cy="3937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494178" y="2589634"/>
            <a:ext cx="2823845" cy="216979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70"/>
              </a:spcBef>
            </a:pPr>
            <a:r>
              <a:rPr sz="2200" b="1" spc="-75" dirty="0">
                <a:solidFill>
                  <a:srgbClr val="F7FAFC"/>
                </a:solidFill>
                <a:latin typeface="Tahoma"/>
                <a:cs typeface="Tahoma"/>
              </a:rPr>
              <a:t>Envanter</a:t>
            </a:r>
            <a:r>
              <a:rPr sz="2200" b="1" spc="-4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F7FAFC"/>
                </a:solidFill>
                <a:latin typeface="Tahoma"/>
                <a:cs typeface="Tahoma"/>
              </a:rPr>
              <a:t>Sapmaları</a:t>
            </a:r>
            <a:endParaRPr sz="2200" dirty="0">
              <a:latin typeface="Tahoma"/>
              <a:cs typeface="Tahoma"/>
            </a:endParaRPr>
          </a:p>
          <a:p>
            <a:pPr marL="12700" marR="5080" indent="-635" algn="ctr">
              <a:lnSpc>
                <a:spcPts val="2030"/>
              </a:lnSpc>
              <a:spcBef>
                <a:spcPts val="980"/>
              </a:spcBef>
            </a:pPr>
            <a:r>
              <a:rPr sz="1700" spc="105" dirty="0">
                <a:solidFill>
                  <a:srgbClr val="CBD4E1"/>
                </a:solidFill>
                <a:latin typeface="Tahoma"/>
                <a:cs typeface="Tahoma"/>
              </a:rPr>
              <a:t>Merkez</a:t>
            </a:r>
            <a:r>
              <a:rPr sz="1700" spc="-5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85" dirty="0">
                <a:solidFill>
                  <a:srgbClr val="CBD4E1"/>
                </a:solidFill>
                <a:latin typeface="Tahoma"/>
                <a:cs typeface="Tahoma"/>
              </a:rPr>
              <a:t>depo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7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CBD4E1"/>
                </a:solidFill>
                <a:latin typeface="Tahoma"/>
                <a:cs typeface="Tahoma"/>
              </a:rPr>
              <a:t>saha </a:t>
            </a:r>
            <a:r>
              <a:rPr sz="1700" dirty="0">
                <a:solidFill>
                  <a:srgbClr val="CBD4E1"/>
                </a:solidFill>
                <a:latin typeface="Tahoma"/>
                <a:cs typeface="Tahoma"/>
              </a:rPr>
              <a:t>verilerinin</a:t>
            </a:r>
            <a:r>
              <a:rPr sz="1700" spc="3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CBD4E1"/>
                </a:solidFill>
                <a:latin typeface="Tahoma"/>
                <a:cs typeface="Tahoma"/>
              </a:rPr>
              <a:t>eşzamanlı </a:t>
            </a:r>
            <a:r>
              <a:rPr sz="1700" spc="70" dirty="0">
                <a:solidFill>
                  <a:srgbClr val="CBD4E1"/>
                </a:solidFill>
                <a:latin typeface="Tahoma"/>
                <a:cs typeface="Tahoma"/>
              </a:rPr>
              <a:t>senkronize</a:t>
            </a:r>
            <a:r>
              <a:rPr sz="1700" spc="-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45" dirty="0">
                <a:solidFill>
                  <a:srgbClr val="CBD4E1"/>
                </a:solidFill>
                <a:latin typeface="Tahoma"/>
                <a:cs typeface="Tahoma"/>
              </a:rPr>
              <a:t>olmaması </a:t>
            </a:r>
            <a:r>
              <a:rPr sz="1700" spc="80" dirty="0">
                <a:solidFill>
                  <a:srgbClr val="CBD4E1"/>
                </a:solidFill>
                <a:latin typeface="Tahoma"/>
                <a:cs typeface="Tahoma"/>
              </a:rPr>
              <a:t>sonucu</a:t>
            </a:r>
            <a:r>
              <a:rPr sz="170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oluşan</a:t>
            </a:r>
            <a:r>
              <a:rPr sz="170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operasyonel stok</a:t>
            </a:r>
            <a:r>
              <a:rPr sz="1700" spc="-4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CBD4E1"/>
                </a:solidFill>
                <a:latin typeface="Tahoma"/>
                <a:cs typeface="Tahoma"/>
              </a:rPr>
              <a:t>fazlası</a:t>
            </a:r>
            <a:r>
              <a:rPr sz="17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CBD4E1"/>
                </a:solidFill>
                <a:latin typeface="Tahoma"/>
                <a:cs typeface="Tahoma"/>
              </a:rPr>
              <a:t>veya</a:t>
            </a:r>
            <a:r>
              <a:rPr sz="17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40" dirty="0">
                <a:solidFill>
                  <a:srgbClr val="CBD4E1"/>
                </a:solidFill>
                <a:latin typeface="Tahoma"/>
                <a:cs typeface="Tahoma"/>
              </a:rPr>
              <a:t>stok </a:t>
            </a:r>
            <a:r>
              <a:rPr sz="1700" spc="60" dirty="0">
                <a:solidFill>
                  <a:srgbClr val="CBD4E1"/>
                </a:solidFill>
                <a:latin typeface="Tahoma"/>
                <a:cs typeface="Tahoma"/>
              </a:rPr>
              <a:t>yokluğu</a:t>
            </a:r>
            <a:r>
              <a:rPr sz="17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700" spc="35" dirty="0">
                <a:solidFill>
                  <a:srgbClr val="CBD4E1"/>
                </a:solidFill>
                <a:latin typeface="Tahoma"/>
                <a:cs typeface="Tahoma"/>
              </a:rPr>
              <a:t>krizleri.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502775" y="352742"/>
            <a:ext cx="11130424" cy="667169"/>
          </a:xfrm>
          <a:prstGeom prst="rect">
            <a:avLst/>
          </a:prstGeom>
        </p:spPr>
        <p:txBody>
          <a:bodyPr vert="horz" wrap="square" lIns="0" tIns="203517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/>
              <a:t>3)</a:t>
            </a:r>
            <a:r>
              <a:rPr spc="-254" dirty="0"/>
              <a:t> </a:t>
            </a:r>
            <a:r>
              <a:rPr spc="-170" dirty="0"/>
              <a:t>Tedarik</a:t>
            </a:r>
            <a:r>
              <a:rPr spc="-250" dirty="0"/>
              <a:t> </a:t>
            </a:r>
            <a:r>
              <a:rPr spc="-195" dirty="0"/>
              <a:t>Zinciri</a:t>
            </a:r>
            <a:r>
              <a:rPr spc="-250" dirty="0"/>
              <a:t> </a:t>
            </a:r>
            <a:r>
              <a:rPr spc="-105" dirty="0"/>
              <a:t>ve</a:t>
            </a:r>
            <a:r>
              <a:rPr spc="-250" dirty="0"/>
              <a:t> </a:t>
            </a:r>
            <a:r>
              <a:rPr spc="-250" dirty="0" err="1"/>
              <a:t>Lojistik</a:t>
            </a:r>
            <a:r>
              <a:rPr spc="-250" dirty="0"/>
              <a:t> </a:t>
            </a:r>
            <a:r>
              <a:rPr lang="tr-TR" spc="-250" dirty="0"/>
              <a:t>Problemleri</a:t>
            </a:r>
            <a:r>
              <a:rPr spc="80" dirty="0">
                <a:solidFill>
                  <a:srgbClr val="CC0000"/>
                </a:solidFill>
              </a:rPr>
              <a:t>|</a:t>
            </a:r>
            <a:r>
              <a:rPr spc="-250" dirty="0">
                <a:solidFill>
                  <a:srgbClr val="CC0000"/>
                </a:solidFill>
              </a:rPr>
              <a:t> </a:t>
            </a:r>
            <a:r>
              <a:rPr spc="-180" dirty="0">
                <a:solidFill>
                  <a:srgbClr val="FFFFFF"/>
                </a:solidFill>
              </a:rPr>
              <a:t>Endüstri</a:t>
            </a:r>
            <a:r>
              <a:rPr spc="-254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4.0</a:t>
            </a:r>
          </a:p>
        </p:txBody>
      </p:sp>
      <p:sp>
        <p:nvSpPr>
          <p:cNvPr id="19" name="object 19"/>
          <p:cNvSpPr/>
          <p:nvPr/>
        </p:nvSpPr>
        <p:spPr>
          <a:xfrm>
            <a:off x="571500" y="1285875"/>
            <a:ext cx="11049000" cy="19685"/>
          </a:xfrm>
          <a:custGeom>
            <a:avLst/>
            <a:gdLst/>
            <a:ahLst/>
            <a:cxnLst/>
            <a:rect l="l" t="t" r="r" b="b"/>
            <a:pathLst>
              <a:path w="11049000" h="19684">
                <a:moveTo>
                  <a:pt x="11048999" y="19199"/>
                </a:moveTo>
                <a:lnTo>
                  <a:pt x="0" y="191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1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2775" y="352742"/>
            <a:ext cx="11130424" cy="689789"/>
          </a:xfrm>
          <a:prstGeom prst="rect">
            <a:avLst/>
          </a:prstGeom>
        </p:spPr>
        <p:txBody>
          <a:bodyPr vert="horz" wrap="square" lIns="0" tIns="22591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1)</a:t>
            </a:r>
            <a:r>
              <a:rPr spc="-265" dirty="0"/>
              <a:t> </a:t>
            </a:r>
            <a:r>
              <a:rPr lang="tr-TR" spc="-265" dirty="0"/>
              <a:t>Eğitimde Erişilebilirlik Sorunu</a:t>
            </a:r>
            <a:r>
              <a:rPr spc="80" dirty="0">
                <a:solidFill>
                  <a:srgbClr val="CC0000"/>
                </a:solidFill>
              </a:rPr>
              <a:t>|</a:t>
            </a:r>
            <a:r>
              <a:rPr spc="-260" dirty="0">
                <a:solidFill>
                  <a:srgbClr val="CC0000"/>
                </a:solidFill>
              </a:rPr>
              <a:t> </a:t>
            </a:r>
            <a:r>
              <a:rPr spc="-110" dirty="0">
                <a:solidFill>
                  <a:srgbClr val="FFFFFF"/>
                </a:solidFill>
              </a:rPr>
              <a:t>Eğitim(EdTech)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85875"/>
            <a:ext cx="11049000" cy="19685"/>
          </a:xfrm>
          <a:custGeom>
            <a:avLst/>
            <a:gdLst/>
            <a:ahLst/>
            <a:cxnLst/>
            <a:rect l="l" t="t" r="r" b="b"/>
            <a:pathLst>
              <a:path w="11049000" h="19684">
                <a:moveTo>
                  <a:pt x="11048999" y="19199"/>
                </a:moveTo>
                <a:lnTo>
                  <a:pt x="0" y="191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1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6737" y="1709737"/>
            <a:ext cx="3438525" cy="4010025"/>
            <a:chOff x="566737" y="1709737"/>
            <a:chExt cx="3438525" cy="4010025"/>
          </a:xfrm>
        </p:grpSpPr>
        <p:sp>
          <p:nvSpPr>
            <p:cNvPr id="5" name="object 5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9625" y="2242566"/>
              <a:ext cx="412750" cy="2476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05439" y="2585974"/>
            <a:ext cx="2759710" cy="2675604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90"/>
              </a:spcBef>
            </a:pPr>
            <a:r>
              <a:rPr lang="tr-TR" sz="2400" b="1" spc="-95" dirty="0">
                <a:solidFill>
                  <a:srgbClr val="F7FAFC"/>
                </a:solidFill>
                <a:latin typeface="Tahoma"/>
                <a:cs typeface="Tahoma"/>
              </a:rPr>
              <a:t>Standart Arayüz </a:t>
            </a:r>
            <a:r>
              <a:rPr sz="2400" b="1" spc="-10" dirty="0" err="1">
                <a:solidFill>
                  <a:srgbClr val="F7FAFC"/>
                </a:solidFill>
                <a:latin typeface="Tahoma"/>
                <a:cs typeface="Tahoma"/>
              </a:rPr>
              <a:t>Tuzağı</a:t>
            </a:r>
            <a:endParaRPr sz="2400" dirty="0">
              <a:latin typeface="Tahoma"/>
              <a:cs typeface="Tahoma"/>
            </a:endParaRPr>
          </a:p>
          <a:p>
            <a:pPr marL="12700" marR="5080" indent="-635" algn="ctr">
              <a:lnSpc>
                <a:spcPct val="100699"/>
              </a:lnSpc>
              <a:spcBef>
                <a:spcPts val="880"/>
              </a:spcBef>
            </a:pPr>
            <a:r>
              <a:rPr lang="tr-TR" sz="1800" spc="55" dirty="0">
                <a:solidFill>
                  <a:srgbClr val="CBD4E1"/>
                </a:solidFill>
                <a:latin typeface="Tahoma"/>
                <a:cs typeface="Tahoma"/>
              </a:rPr>
              <a:t>Görme, işitme veya ortopedik asimetrisi olan kullanıcıların, tek tip tasarlanmış eğitim platformlarında yaşadığı bariyerler.</a:t>
            </a:r>
            <a:endParaRPr sz="1800" dirty="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76737" y="1709737"/>
            <a:ext cx="3438525" cy="4010025"/>
            <a:chOff x="4376737" y="1709737"/>
            <a:chExt cx="3438525" cy="4010025"/>
          </a:xfrm>
        </p:grpSpPr>
        <p:sp>
          <p:nvSpPr>
            <p:cNvPr id="10" name="object 1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3275" y="2196465"/>
              <a:ext cx="403225" cy="3429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788022" y="2737866"/>
            <a:ext cx="2616835" cy="26423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47675" marR="443230" algn="ctr">
              <a:lnSpc>
                <a:spcPct val="100499"/>
              </a:lnSpc>
              <a:spcBef>
                <a:spcPts val="85"/>
              </a:spcBef>
            </a:pPr>
            <a:r>
              <a:rPr lang="tr-TR" sz="2300" b="1" spc="-45" dirty="0">
                <a:solidFill>
                  <a:srgbClr val="F7FAFC"/>
                </a:solidFill>
                <a:latin typeface="Tahoma"/>
                <a:cs typeface="Tahoma"/>
              </a:rPr>
              <a:t>Zihinsel Farklılık</a:t>
            </a:r>
            <a:endParaRPr lang="tr-TR" sz="2300" dirty="0">
              <a:latin typeface="Tahoma"/>
              <a:cs typeface="Tahoma"/>
            </a:endParaRPr>
          </a:p>
          <a:p>
            <a:pPr marL="12065" marR="5080" indent="-1905" algn="ctr">
              <a:lnSpc>
                <a:spcPts val="2030"/>
              </a:lnSpc>
              <a:spcBef>
                <a:spcPts val="1015"/>
              </a:spcBef>
            </a:pPr>
            <a:r>
              <a:rPr lang="tr-TR" sz="1700" spc="60" dirty="0">
                <a:solidFill>
                  <a:srgbClr val="CBD4E1"/>
                </a:solidFill>
                <a:latin typeface="Tahoma"/>
                <a:cs typeface="Tahoma"/>
              </a:rPr>
              <a:t>Disleksi, otizm veya DEHB gibi farklı bilişsel işleme modellerine sahip zihinleri, sistemin "hatalı veri" veya "başarısızlık" olarak okuyup dışarı iten </a:t>
            </a:r>
            <a:r>
              <a:rPr lang="tr-TR" sz="1700" spc="60" dirty="0" err="1">
                <a:solidFill>
                  <a:srgbClr val="CBD4E1"/>
                </a:solidFill>
                <a:latin typeface="Tahoma"/>
                <a:cs typeface="Tahoma"/>
              </a:rPr>
              <a:t>esneksiz</a:t>
            </a:r>
            <a:r>
              <a:rPr lang="tr-TR" sz="1700" spc="60" dirty="0">
                <a:solidFill>
                  <a:srgbClr val="CBD4E1"/>
                </a:solidFill>
                <a:latin typeface="Tahoma"/>
                <a:cs typeface="Tahoma"/>
              </a:rPr>
              <a:t> algoritmalar.</a:t>
            </a:r>
            <a:endParaRPr sz="1700" dirty="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86737" y="1709737"/>
            <a:ext cx="3438525" cy="4010025"/>
            <a:chOff x="8186737" y="1709737"/>
            <a:chExt cx="3438525" cy="4010025"/>
          </a:xfrm>
        </p:grpSpPr>
        <p:sp>
          <p:nvSpPr>
            <p:cNvPr id="15" name="object 15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15500" y="2177415"/>
              <a:ext cx="381000" cy="3810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569415" y="2576524"/>
            <a:ext cx="2673985" cy="3063659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70"/>
              </a:spcBef>
            </a:pPr>
            <a:r>
              <a:rPr lang="tr-TR" sz="2300" b="1" spc="-190" dirty="0">
                <a:solidFill>
                  <a:srgbClr val="F7FAFC"/>
                </a:solidFill>
                <a:latin typeface="Tahoma"/>
                <a:cs typeface="Tahoma"/>
              </a:rPr>
              <a:t>Otonom Adaptasyon Eksikliği</a:t>
            </a:r>
            <a:endParaRPr sz="2300" dirty="0">
              <a:latin typeface="Tahoma"/>
              <a:cs typeface="Tahoma"/>
            </a:endParaRPr>
          </a:p>
          <a:p>
            <a:pPr marL="12065" marR="5080" indent="-1270" algn="ctr">
              <a:lnSpc>
                <a:spcPts val="2030"/>
              </a:lnSpc>
              <a:spcBef>
                <a:spcPts val="1015"/>
              </a:spcBef>
            </a:pPr>
            <a:r>
              <a:rPr lang="tr-TR" sz="1600" spc="45" dirty="0">
                <a:solidFill>
                  <a:srgbClr val="CBD4E1"/>
                </a:solidFill>
                <a:latin typeface="Tahoma"/>
                <a:cs typeface="Tahoma"/>
              </a:rPr>
              <a:t>Dezavantajlı kullanıcıların platform içindeki reaksiyonlarını okuyup; arayüzü, ses/metin dengesini ve içerik hızını anlık olarak o kişiye göre modifiye edemeyen hantal altyapılar.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2775" y="352742"/>
            <a:ext cx="11130424" cy="667169"/>
          </a:xfrm>
          <a:prstGeom prst="rect">
            <a:avLst/>
          </a:prstGeom>
        </p:spPr>
        <p:txBody>
          <a:bodyPr vert="horz" wrap="square" lIns="0" tIns="203517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/>
              <a:t>2)</a:t>
            </a:r>
            <a:r>
              <a:rPr spc="-250" dirty="0"/>
              <a:t> </a:t>
            </a:r>
            <a:r>
              <a:rPr lang="tr-TR" dirty="0"/>
              <a:t>Operasyonel Hantallık Sorunu </a:t>
            </a:r>
            <a:r>
              <a:rPr spc="80" dirty="0">
                <a:solidFill>
                  <a:srgbClr val="CC0000"/>
                </a:solidFill>
              </a:rPr>
              <a:t>|</a:t>
            </a:r>
            <a:r>
              <a:rPr spc="-245" dirty="0">
                <a:solidFill>
                  <a:srgbClr val="CC0000"/>
                </a:solidFill>
              </a:rPr>
              <a:t> </a:t>
            </a:r>
            <a:r>
              <a:rPr spc="-105" dirty="0">
                <a:solidFill>
                  <a:srgbClr val="FFFFFF"/>
                </a:solidFill>
              </a:rPr>
              <a:t>Eğitim(EdTech)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85875"/>
            <a:ext cx="11049000" cy="19685"/>
          </a:xfrm>
          <a:custGeom>
            <a:avLst/>
            <a:gdLst/>
            <a:ahLst/>
            <a:cxnLst/>
            <a:rect l="l" t="t" r="r" b="b"/>
            <a:pathLst>
              <a:path w="11049000" h="19684">
                <a:moveTo>
                  <a:pt x="11048999" y="19199"/>
                </a:moveTo>
                <a:lnTo>
                  <a:pt x="0" y="191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1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6737" y="1709737"/>
            <a:ext cx="3438525" cy="4010025"/>
            <a:chOff x="566737" y="1709737"/>
            <a:chExt cx="3438525" cy="4010025"/>
          </a:xfrm>
        </p:grpSpPr>
        <p:sp>
          <p:nvSpPr>
            <p:cNvPr id="5" name="object 5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8224" y="2158936"/>
              <a:ext cx="355600" cy="3937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32537" y="2579639"/>
            <a:ext cx="2706370" cy="1869439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0"/>
              </a:spcBef>
            </a:pPr>
            <a:r>
              <a:rPr sz="2200" b="1" spc="-150" dirty="0">
                <a:solidFill>
                  <a:srgbClr val="F7FAFC"/>
                </a:solidFill>
                <a:latin typeface="Tahoma"/>
                <a:cs typeface="Tahoma"/>
              </a:rPr>
              <a:t>İdari</a:t>
            </a:r>
            <a:r>
              <a:rPr sz="2200" b="1" spc="-6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200" b="1" spc="-25" dirty="0">
                <a:solidFill>
                  <a:srgbClr val="F7FAFC"/>
                </a:solidFill>
                <a:latin typeface="Tahoma"/>
                <a:cs typeface="Tahoma"/>
              </a:rPr>
              <a:t>Yük</a:t>
            </a:r>
            <a:endParaRPr sz="2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sz="1600" spc="10" dirty="0">
                <a:solidFill>
                  <a:srgbClr val="CBD4E1"/>
                </a:solidFill>
                <a:latin typeface="Tahoma"/>
                <a:cs typeface="Tahoma"/>
              </a:rPr>
              <a:t>Eğitmenlerin</a:t>
            </a:r>
            <a:r>
              <a:rPr sz="1600" spc="21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CBD4E1"/>
                </a:solidFill>
                <a:latin typeface="Tahoma"/>
                <a:cs typeface="Tahoma"/>
              </a:rPr>
              <a:t>kısıtlı</a:t>
            </a:r>
            <a:r>
              <a:rPr sz="1600" spc="2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CBD4E1"/>
                </a:solidFill>
                <a:latin typeface="Tahoma"/>
                <a:cs typeface="Tahoma"/>
              </a:rPr>
              <a:t>vaktinin</a:t>
            </a:r>
            <a:endParaRPr sz="1600" dirty="0">
              <a:latin typeface="Tahoma"/>
              <a:cs typeface="Tahoma"/>
            </a:endParaRPr>
          </a:p>
          <a:p>
            <a:pPr marL="12065" marR="5080" algn="ctr">
              <a:lnSpc>
                <a:spcPct val="101600"/>
              </a:lnSpc>
            </a:pPr>
            <a:r>
              <a:rPr sz="1600" spc="70" dirty="0">
                <a:solidFill>
                  <a:srgbClr val="CBD4E1"/>
                </a:solidFill>
                <a:latin typeface="Tahoma"/>
                <a:cs typeface="Tahoma"/>
              </a:rPr>
              <a:t>%40'ını</a:t>
            </a:r>
            <a:r>
              <a:rPr sz="1600" spc="1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raporlama,</a:t>
            </a:r>
            <a:r>
              <a:rPr sz="1600" spc="1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CBD4E1"/>
                </a:solidFill>
                <a:latin typeface="Tahoma"/>
                <a:cs typeface="Tahoma"/>
              </a:rPr>
              <a:t>yoklama </a:t>
            </a:r>
            <a:r>
              <a:rPr sz="1600" spc="75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600" spc="-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not</a:t>
            </a:r>
            <a:r>
              <a:rPr sz="1600" spc="-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girişi</a:t>
            </a:r>
            <a:r>
              <a:rPr sz="1600" spc="-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gibi</a:t>
            </a:r>
            <a:r>
              <a:rPr sz="1600" spc="-2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CBD4E1"/>
                </a:solidFill>
                <a:latin typeface="Tahoma"/>
                <a:cs typeface="Tahoma"/>
              </a:rPr>
              <a:t>katma </a:t>
            </a:r>
            <a:r>
              <a:rPr sz="1600" spc="80" dirty="0">
                <a:solidFill>
                  <a:srgbClr val="CBD4E1"/>
                </a:solidFill>
                <a:latin typeface="Tahoma"/>
                <a:cs typeface="Tahoma"/>
              </a:rPr>
              <a:t>değersiz</a:t>
            </a:r>
            <a:r>
              <a:rPr sz="16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teknik</a:t>
            </a:r>
            <a:r>
              <a:rPr sz="1600" spc="9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CBD4E1"/>
                </a:solidFill>
                <a:latin typeface="Tahoma"/>
                <a:cs typeface="Tahoma"/>
              </a:rPr>
              <a:t>işlere harcaması.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76737" y="1709737"/>
            <a:ext cx="3438525" cy="4010025"/>
            <a:chOff x="4376737" y="1709737"/>
            <a:chExt cx="3438525" cy="4010025"/>
          </a:xfrm>
        </p:grpSpPr>
        <p:sp>
          <p:nvSpPr>
            <p:cNvPr id="10" name="object 1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99174" y="2216086"/>
              <a:ext cx="393700" cy="3175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706976" y="2579639"/>
            <a:ext cx="2777490" cy="1869439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0"/>
              </a:spcBef>
            </a:pPr>
            <a:r>
              <a:rPr sz="2200" b="1" spc="-55" dirty="0">
                <a:solidFill>
                  <a:srgbClr val="F7FAFC"/>
                </a:solidFill>
                <a:latin typeface="Tahoma"/>
                <a:cs typeface="Tahoma"/>
              </a:rPr>
              <a:t>Veri</a:t>
            </a:r>
            <a:r>
              <a:rPr sz="2200" b="1" spc="-90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F7FAFC"/>
                </a:solidFill>
                <a:latin typeface="Tahoma"/>
                <a:cs typeface="Tahoma"/>
              </a:rPr>
              <a:t>Siloları</a:t>
            </a:r>
            <a:endParaRPr sz="2200" dirty="0">
              <a:latin typeface="Tahoma"/>
              <a:cs typeface="Tahoma"/>
            </a:endParaRPr>
          </a:p>
          <a:p>
            <a:pPr marL="12700" marR="5080" algn="ctr">
              <a:lnSpc>
                <a:spcPct val="101600"/>
              </a:lnSpc>
              <a:spcBef>
                <a:spcPts val="875"/>
              </a:spcBef>
            </a:pPr>
            <a:r>
              <a:rPr sz="1600" spc="55" dirty="0">
                <a:solidFill>
                  <a:srgbClr val="CBD4E1"/>
                </a:solidFill>
                <a:latin typeface="Tahoma"/>
                <a:cs typeface="Tahoma"/>
              </a:rPr>
              <a:t>Öğrencinin</a:t>
            </a:r>
            <a:r>
              <a:rPr sz="16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akademik,</a:t>
            </a:r>
            <a:r>
              <a:rPr sz="1600" spc="-4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CBD4E1"/>
                </a:solidFill>
                <a:latin typeface="Tahoma"/>
                <a:cs typeface="Tahoma"/>
              </a:rPr>
              <a:t>sosyal </a:t>
            </a:r>
            <a:r>
              <a:rPr sz="1600" spc="75" dirty="0">
                <a:solidFill>
                  <a:srgbClr val="CBD4E1"/>
                </a:solidFill>
                <a:latin typeface="Tahoma"/>
                <a:cs typeface="Tahoma"/>
              </a:rPr>
              <a:t>ve</a:t>
            </a:r>
            <a:r>
              <a:rPr sz="1600" spc="1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CBD4E1"/>
                </a:solidFill>
                <a:latin typeface="Tahoma"/>
                <a:cs typeface="Tahoma"/>
              </a:rPr>
              <a:t>idari</a:t>
            </a:r>
            <a:r>
              <a:rPr sz="1600" spc="1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CBD4E1"/>
                </a:solidFill>
                <a:latin typeface="Tahoma"/>
                <a:cs typeface="Tahoma"/>
              </a:rPr>
              <a:t>verilerinin</a:t>
            </a:r>
            <a:r>
              <a:rPr sz="1600" spc="12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CBD4E1"/>
                </a:solidFill>
                <a:latin typeface="Tahoma"/>
                <a:cs typeface="Tahoma"/>
              </a:rPr>
              <a:t>farklı </a:t>
            </a:r>
            <a:r>
              <a:rPr sz="1600" spc="10" dirty="0">
                <a:solidFill>
                  <a:srgbClr val="CBD4E1"/>
                </a:solidFill>
                <a:latin typeface="Tahoma"/>
                <a:cs typeface="Tahoma"/>
              </a:rPr>
              <a:t>platformlarda</a:t>
            </a:r>
            <a:r>
              <a:rPr sz="1600" spc="1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CBD4E1"/>
                </a:solidFill>
                <a:latin typeface="Tahoma"/>
                <a:cs typeface="Tahoma"/>
              </a:rPr>
              <a:t>dağınık</a:t>
            </a:r>
            <a:r>
              <a:rPr sz="1600" spc="1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CBD4E1"/>
                </a:solidFill>
                <a:latin typeface="Tahoma"/>
                <a:cs typeface="Tahoma"/>
              </a:rPr>
              <a:t>olması </a:t>
            </a:r>
            <a:r>
              <a:rPr sz="1600" spc="65" dirty="0">
                <a:solidFill>
                  <a:srgbClr val="CBD4E1"/>
                </a:solidFill>
                <a:latin typeface="Tahoma"/>
                <a:cs typeface="Tahoma"/>
              </a:rPr>
              <a:t>nedeniyle</a:t>
            </a:r>
            <a:r>
              <a:rPr sz="1600" spc="-35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CBD4E1"/>
                </a:solidFill>
                <a:latin typeface="Tahoma"/>
                <a:cs typeface="Tahoma"/>
              </a:rPr>
              <a:t>bütüncül</a:t>
            </a:r>
            <a:r>
              <a:rPr sz="1600" spc="-3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CBD4E1"/>
                </a:solidFill>
                <a:latin typeface="Tahoma"/>
                <a:cs typeface="Tahoma"/>
              </a:rPr>
              <a:t>bir </a:t>
            </a:r>
            <a:r>
              <a:rPr sz="1600" spc="55" dirty="0">
                <a:solidFill>
                  <a:srgbClr val="CBD4E1"/>
                </a:solidFill>
                <a:latin typeface="Tahoma"/>
                <a:cs typeface="Tahoma"/>
              </a:rPr>
              <a:t>gelişim</a:t>
            </a:r>
            <a:r>
              <a:rPr sz="1600" spc="7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CBD4E1"/>
                </a:solidFill>
                <a:latin typeface="Tahoma"/>
                <a:cs typeface="Tahoma"/>
              </a:rPr>
              <a:t>takibi</a:t>
            </a:r>
            <a:r>
              <a:rPr sz="1600" spc="70" dirty="0">
                <a:solidFill>
                  <a:srgbClr val="CBD4E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CBD4E1"/>
                </a:solidFill>
                <a:latin typeface="Tahoma"/>
                <a:cs typeface="Tahoma"/>
              </a:rPr>
              <a:t>yapılamaması.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86737" y="1709737"/>
            <a:ext cx="3438525" cy="4010025"/>
            <a:chOff x="8186737" y="1709737"/>
            <a:chExt cx="3438525" cy="4010025"/>
          </a:xfrm>
        </p:grpSpPr>
        <p:sp>
          <p:nvSpPr>
            <p:cNvPr id="15" name="object 15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76615" y="4000499"/>
                  </a:move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52384"/>
                  </a:moveTo>
                  <a:lnTo>
                    <a:pt x="7768" y="104219"/>
                  </a:lnTo>
                  <a:lnTo>
                    <a:pt x="29401" y="62388"/>
                  </a:lnTo>
                  <a:lnTo>
                    <a:pt x="62388" y="29401"/>
                  </a:lnTo>
                  <a:lnTo>
                    <a:pt x="104219" y="7768"/>
                  </a:lnTo>
                  <a:lnTo>
                    <a:pt x="152384" y="0"/>
                  </a:lnTo>
                  <a:lnTo>
                    <a:pt x="3276615" y="0"/>
                  </a:lnTo>
                  <a:lnTo>
                    <a:pt x="3334930" y="11599"/>
                  </a:lnTo>
                  <a:lnTo>
                    <a:pt x="3384367" y="44632"/>
                  </a:lnTo>
                  <a:lnTo>
                    <a:pt x="3417400" y="94069"/>
                  </a:lnTo>
                  <a:lnTo>
                    <a:pt x="3428999" y="152384"/>
                  </a:lnTo>
                  <a:lnTo>
                    <a:pt x="3428999" y="3848115"/>
                  </a:lnTo>
                  <a:lnTo>
                    <a:pt x="3421231" y="3896280"/>
                  </a:lnTo>
                  <a:lnTo>
                    <a:pt x="3399598" y="3938111"/>
                  </a:lnTo>
                  <a:lnTo>
                    <a:pt x="3366611" y="3971098"/>
                  </a:lnTo>
                  <a:lnTo>
                    <a:pt x="3324780" y="3992731"/>
                  </a:lnTo>
                  <a:lnTo>
                    <a:pt x="3276615" y="4000499"/>
                  </a:lnTo>
                  <a:lnTo>
                    <a:pt x="152384" y="4000499"/>
                  </a:lnTo>
                  <a:lnTo>
                    <a:pt x="104219" y="3992731"/>
                  </a:lnTo>
                  <a:lnTo>
                    <a:pt x="62388" y="3971098"/>
                  </a:lnTo>
                  <a:lnTo>
                    <a:pt x="29401" y="3938111"/>
                  </a:lnTo>
                  <a:lnTo>
                    <a:pt x="7768" y="3896280"/>
                  </a:lnTo>
                  <a:lnTo>
                    <a:pt x="0" y="3848115"/>
                  </a:lnTo>
                  <a:lnTo>
                    <a:pt x="0" y="152384"/>
                  </a:lnTo>
                  <a:close/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09175" y="2158936"/>
              <a:ext cx="393700" cy="4318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497089" y="2579639"/>
            <a:ext cx="2818765" cy="2113399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0"/>
              </a:spcBef>
            </a:pPr>
            <a:r>
              <a:rPr sz="2200" b="1" spc="-50" dirty="0">
                <a:solidFill>
                  <a:srgbClr val="F7FAFC"/>
                </a:solidFill>
                <a:latin typeface="Tahoma"/>
                <a:cs typeface="Tahoma"/>
              </a:rPr>
              <a:t>Kaynak</a:t>
            </a:r>
            <a:r>
              <a:rPr sz="2200" b="1" spc="-75" dirty="0">
                <a:solidFill>
                  <a:srgbClr val="F7FAFC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F7FAFC"/>
                </a:solidFill>
                <a:latin typeface="Tahoma"/>
                <a:cs typeface="Tahoma"/>
              </a:rPr>
              <a:t>Yönetimi</a:t>
            </a:r>
            <a:endParaRPr sz="2200" dirty="0">
              <a:latin typeface="Tahoma"/>
              <a:cs typeface="Tahoma"/>
            </a:endParaRPr>
          </a:p>
          <a:p>
            <a:pPr marL="12700" marR="5080" algn="ctr">
              <a:lnSpc>
                <a:spcPct val="101600"/>
              </a:lnSpc>
              <a:spcBef>
                <a:spcPts val="875"/>
              </a:spcBef>
            </a:pPr>
            <a:r>
              <a:rPr lang="tr-TR" sz="1600" spc="10" dirty="0">
                <a:solidFill>
                  <a:srgbClr val="CBD4E1"/>
                </a:solidFill>
                <a:latin typeface="Tahoma"/>
                <a:cs typeface="Tahoma"/>
              </a:rPr>
              <a:t>Kampüs, laboratuvar ve dijital altyapı kullanımlarının veri akışıyla değil, hantal ve statik planlamalarla yönetilmesi sonucu oluşan maliyet kayıpları.</a:t>
            </a:r>
            <a:endParaRPr lang="tr-TR"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92838" y="2221834"/>
            <a:ext cx="90068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95" dirty="0">
                <a:solidFill>
                  <a:srgbClr val="F7FAFC"/>
                </a:solidFill>
              </a:rPr>
              <a:t>Teşekkürler</a:t>
            </a:r>
            <a:r>
              <a:rPr sz="6000" spc="-570" dirty="0">
                <a:solidFill>
                  <a:srgbClr val="F7FAFC"/>
                </a:solidFill>
              </a:rPr>
              <a:t> </a:t>
            </a:r>
            <a:r>
              <a:rPr sz="6000" spc="-695" dirty="0">
                <a:solidFill>
                  <a:srgbClr val="F7FAFC"/>
                </a:solidFill>
              </a:rPr>
              <a:t>&amp;</a:t>
            </a:r>
            <a:r>
              <a:rPr sz="6000" spc="-565" dirty="0">
                <a:solidFill>
                  <a:srgbClr val="F7FAFC"/>
                </a:solidFill>
              </a:rPr>
              <a:t> </a:t>
            </a:r>
            <a:r>
              <a:rPr sz="6000" spc="-465" dirty="0">
                <a:solidFill>
                  <a:srgbClr val="F7FAFC"/>
                </a:solidFill>
              </a:rPr>
              <a:t>Bol</a:t>
            </a:r>
            <a:r>
              <a:rPr sz="6000" spc="-565" dirty="0">
                <a:solidFill>
                  <a:srgbClr val="F7FAFC"/>
                </a:solidFill>
              </a:rPr>
              <a:t> </a:t>
            </a:r>
            <a:r>
              <a:rPr sz="6000" spc="-90" dirty="0">
                <a:solidFill>
                  <a:srgbClr val="F7FAFC"/>
                </a:solidFill>
              </a:rPr>
              <a:t>Şans!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3439107" y="3576670"/>
            <a:ext cx="5309235" cy="1024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94A3B8"/>
                </a:solidFill>
                <a:latin typeface="Tahoma"/>
                <a:cs typeface="Tahoma"/>
              </a:rPr>
              <a:t>Geleceği</a:t>
            </a:r>
            <a:r>
              <a:rPr sz="1800" spc="4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94A3B8"/>
                </a:solidFill>
                <a:latin typeface="Tahoma"/>
                <a:cs typeface="Tahoma"/>
              </a:rPr>
              <a:t>kodlayan</a:t>
            </a:r>
            <a:r>
              <a:rPr sz="1800" spc="4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4A3B8"/>
                </a:solidFill>
                <a:latin typeface="Tahoma"/>
                <a:cs typeface="Tahoma"/>
              </a:rPr>
              <a:t>tüm</a:t>
            </a:r>
            <a:r>
              <a:rPr sz="1800" spc="50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4A3B8"/>
                </a:solidFill>
                <a:latin typeface="Tahoma"/>
                <a:cs typeface="Tahoma"/>
              </a:rPr>
              <a:t>takımlara</a:t>
            </a:r>
            <a:r>
              <a:rPr sz="1800" spc="4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94A3B8"/>
                </a:solidFill>
                <a:latin typeface="Tahoma"/>
                <a:cs typeface="Tahoma"/>
              </a:rPr>
              <a:t>başarılar</a:t>
            </a:r>
            <a:r>
              <a:rPr sz="1800" spc="4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94A3B8"/>
                </a:solidFill>
                <a:latin typeface="Tahoma"/>
                <a:cs typeface="Tahoma"/>
              </a:rPr>
              <a:t>dileriz.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1800" dirty="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650" dirty="0">
                <a:solidFill>
                  <a:srgbClr val="37BDF7"/>
                </a:solidFill>
                <a:latin typeface="Tahoma"/>
                <a:cs typeface="Tahoma"/>
              </a:rPr>
              <a:t>İsmail</a:t>
            </a:r>
            <a:r>
              <a:rPr sz="1650" spc="-20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650" spc="85" dirty="0">
                <a:solidFill>
                  <a:srgbClr val="37BDF7"/>
                </a:solidFill>
                <a:latin typeface="Tahoma"/>
                <a:cs typeface="Tahoma"/>
              </a:rPr>
              <a:t>Yılmaz</a:t>
            </a:r>
            <a:r>
              <a:rPr sz="1650" spc="-5" dirty="0">
                <a:solidFill>
                  <a:srgbClr val="37BDF7"/>
                </a:solidFill>
                <a:latin typeface="Tahoma"/>
                <a:cs typeface="Tahoma"/>
              </a:rPr>
              <a:t> </a:t>
            </a:r>
            <a:r>
              <a:rPr sz="1650" spc="-60" dirty="0">
                <a:solidFill>
                  <a:srgbClr val="CC0000"/>
                </a:solidFill>
                <a:latin typeface="Tahoma"/>
                <a:cs typeface="Tahoma"/>
              </a:rPr>
              <a:t>|</a:t>
            </a:r>
            <a:r>
              <a:rPr sz="1650" spc="-1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FFFFFF"/>
                </a:solidFill>
                <a:latin typeface="Tahoma"/>
                <a:cs typeface="Tahoma"/>
              </a:rPr>
              <a:t>Etkinlik</a:t>
            </a:r>
            <a:r>
              <a:rPr sz="16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FFFFFF"/>
                </a:solidFill>
                <a:latin typeface="Tahoma"/>
                <a:cs typeface="Tahoma"/>
              </a:rPr>
              <a:t>Koordinatörü</a:t>
            </a:r>
            <a:endParaRPr sz="16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941</Words>
  <Application>Microsoft Office PowerPoint</Application>
  <PresentationFormat>Geniş ekran</PresentationFormat>
  <Paragraphs>114</Paragraphs>
  <Slides>17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Calibri</vt:lpstr>
      <vt:lpstr>Tahoma</vt:lpstr>
      <vt:lpstr>Verdana</vt:lpstr>
      <vt:lpstr>Office Theme</vt:lpstr>
      <vt:lpstr>PowerPoint Sunusu</vt:lpstr>
      <vt:lpstr>PowerPoint Sunusu</vt:lpstr>
      <vt:lpstr>Değerlendirme Kriterleri Özeti</vt:lpstr>
      <vt:lpstr>1. Ürün ve İnovasyon (140 Puan)</vt:lpstr>
      <vt:lpstr>2. Sunum (50 Puan)</vt:lpstr>
      <vt:lpstr>3. Mühendislik ve Demo (80 Puan)</vt:lpstr>
      <vt:lpstr>4. Sponsor Entegrasyonu </vt:lpstr>
      <vt:lpstr>Hackathon Temaları</vt:lpstr>
      <vt:lpstr>1) Hasta Takip Sürecindeki Sorunlar | Sağlık (HealthTech)</vt:lpstr>
      <vt:lpstr>2) Sağlıktaki Veri Sorunları | Sağlık (HealthTech)</vt:lpstr>
      <vt:lpstr>3) Hasta Deneyimi Problemi | Sağlık (HealthTech)</vt:lpstr>
      <vt:lpstr>1) Üretim &amp; Operasyon Sorunları | Endüstri 4.0</vt:lpstr>
      <vt:lpstr>2) Kestirimci Bakım &amp; İzleme Sorunları | Endüstri 4.0</vt:lpstr>
      <vt:lpstr>3) Tedarik Zinciri ve Lojistik Problemleri| Endüstri 4.0</vt:lpstr>
      <vt:lpstr>1) Eğitimde Erişilebilirlik Sorunu| Eğitim(EdTech)</vt:lpstr>
      <vt:lpstr>2) Operasyonel Hantallık Sorunu | Eğitim(EdTech)</vt:lpstr>
      <vt:lpstr>Teşekkürler &amp; Bol Şans!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Presentation</dc:title>
  <cp:lastModifiedBy>İsmail Yılmaz</cp:lastModifiedBy>
  <cp:revision>6</cp:revision>
  <dcterms:created xsi:type="dcterms:W3CDTF">2026-05-14T17:18:41Z</dcterms:created>
  <dcterms:modified xsi:type="dcterms:W3CDTF">2026-05-14T19:50:19Z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2026-05-14T00:00:00Z</vt:filetime>
  </property>
  <property fmtid="{D5CDD505-2E9C-101B-9397-08002B2CF9AE}" pid="4" name="Creator">
    <vt:lpwstr>Google</vt:lpwstr>
  </property>
  <property fmtid="{D5CDD505-2E9C-101B-9397-08002B2CF9AE}" pid="5" name="LastSaved">
    <vt:filetime>2026-05-14T00:00:00Z</vt:filetime>
  </property>
</Properties>
</file>